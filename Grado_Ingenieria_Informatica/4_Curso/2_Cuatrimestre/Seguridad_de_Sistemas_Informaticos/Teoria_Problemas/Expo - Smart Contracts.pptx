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handoutMasterIdLst>
    <p:handoutMasterId r:id="rId19"/>
  </p:handoutMasterIdLst>
  <p:sldIdLst>
    <p:sldId id="256" r:id="rId2"/>
    <p:sldId id="257" r:id="rId3"/>
    <p:sldId id="258" r:id="rId4"/>
    <p:sldId id="263" r:id="rId5"/>
    <p:sldId id="259" r:id="rId6"/>
    <p:sldId id="260" r:id="rId7"/>
    <p:sldId id="261" r:id="rId8"/>
    <p:sldId id="262" r:id="rId9"/>
    <p:sldId id="264" r:id="rId10"/>
    <p:sldId id="265" r:id="rId11"/>
    <p:sldId id="266" r:id="rId12"/>
    <p:sldId id="267" r:id="rId13"/>
    <p:sldId id="268" r:id="rId14"/>
    <p:sldId id="269" r:id="rId15"/>
    <p:sldId id="270" r:id="rId16"/>
    <p:sldId id="271" r:id="rId17"/>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D21A0D-814F-4E23-A63E-D329775CED54}" v="3593" dt="2023-12-19T14:09:52.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93" d="100"/>
          <a:sy n="93" d="100"/>
        </p:scale>
        <p:origin x="990" y="78"/>
      </p:cViewPr>
      <p:guideLst/>
    </p:cSldViewPr>
  </p:slideViewPr>
  <p:notesTextViewPr>
    <p:cViewPr>
      <p:scale>
        <a:sx n="1" d="1"/>
        <a:sy n="1" d="1"/>
      </p:scale>
      <p:origin x="0" y="0"/>
    </p:cViewPr>
  </p:notesTextViewPr>
  <p:notesViewPr>
    <p:cSldViewPr snapToGrid="0">
      <p:cViewPr varScale="1">
        <p:scale>
          <a:sx n="71" d="100"/>
          <a:sy n="71" d="100"/>
        </p:scale>
        <p:origin x="4188"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CC4377C-6A01-406C-9E7A-B8360A191A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F06597-B2E9-4D40-B772-351B3CED3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504115-D3DC-49E7-88B5-4BCDB98C33A7}" type="datetimeFigureOut">
              <a:rPr lang="es-ES" smtClean="0"/>
              <a:t>19/12/2023</a:t>
            </a:fld>
            <a:endParaRPr lang="es-ES"/>
          </a:p>
        </p:txBody>
      </p:sp>
      <p:sp>
        <p:nvSpPr>
          <p:cNvPr id="4" name="Marcador de pie de página 3">
            <a:extLst>
              <a:ext uri="{FF2B5EF4-FFF2-40B4-BE49-F238E27FC236}">
                <a16:creationId xmlns:a16="http://schemas.microsoft.com/office/drawing/2014/main" id="{697BDFB4-56A0-403D-A5A2-14984C6B38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1822DCD5-E812-47D0-8D59-A6735F8C27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16EC9E-403C-44B6-BECF-C44208F229B7}" type="slidenum">
              <a:rPr lang="es-ES" smtClean="0"/>
              <a:t>‹Nº›</a:t>
            </a:fld>
            <a:endParaRPr lang="es-ES"/>
          </a:p>
        </p:txBody>
      </p:sp>
    </p:spTree>
    <p:extLst>
      <p:ext uri="{BB962C8B-B14F-4D97-AF65-F5344CB8AC3E}">
        <p14:creationId xmlns:p14="http://schemas.microsoft.com/office/powerpoint/2010/main" val="13121984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F3A87E-803F-4DDB-926C-89484ADC49C3}" type="datetimeFigureOut">
              <a:rPr lang="es-ES" noProof="0" smtClean="0"/>
              <a:t>19/12/2023</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1C456A-7529-4478-B76A-5BB528428C2A}" type="slidenum">
              <a:rPr lang="es-ES" noProof="0" smtClean="0"/>
              <a:t>‹Nº›</a:t>
            </a:fld>
            <a:endParaRPr lang="es-ES" noProof="0"/>
          </a:p>
        </p:txBody>
      </p:sp>
    </p:spTree>
    <p:extLst>
      <p:ext uri="{BB962C8B-B14F-4D97-AF65-F5344CB8AC3E}">
        <p14:creationId xmlns:p14="http://schemas.microsoft.com/office/powerpoint/2010/main" val="17127528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0F1C456A-7529-4478-B76A-5BB528428C2A}" type="slidenum">
              <a:rPr lang="es-ES" smtClean="0"/>
              <a:t>1</a:t>
            </a:fld>
            <a:endParaRPr lang="es-ES"/>
          </a:p>
        </p:txBody>
      </p:sp>
    </p:spTree>
    <p:extLst>
      <p:ext uri="{BB962C8B-B14F-4D97-AF65-F5344CB8AC3E}">
        <p14:creationId xmlns:p14="http://schemas.microsoft.com/office/powerpoint/2010/main" val="886922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Imagen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ctrTitle"/>
          </p:nvPr>
        </p:nvSpPr>
        <p:spPr>
          <a:xfrm>
            <a:off x="1371600" y="1803405"/>
            <a:ext cx="9448800" cy="1825096"/>
          </a:xfrm>
        </p:spPr>
        <p:txBody>
          <a:bodyPr rtlCol="0" anchor="b">
            <a:normAutofit/>
          </a:bodyPr>
          <a:lstStyle>
            <a:lvl1pPr algn="l">
              <a:defRPr sz="6000"/>
            </a:lvl1pPr>
          </a:lstStyle>
          <a:p>
            <a:pPr rtl="0"/>
            <a:r>
              <a:rPr lang="es-ES" noProof="0"/>
              <a:t>Haga clic para modificar el estilo de título del patrón</a:t>
            </a:r>
          </a:p>
        </p:txBody>
      </p:sp>
      <p:sp>
        <p:nvSpPr>
          <p:cNvPr id="3" name="Subtítulo 2"/>
          <p:cNvSpPr>
            <a:spLocks noGrp="1"/>
          </p:cNvSpPr>
          <p:nvPr>
            <p:ph type="subTitle" idx="1"/>
          </p:nvPr>
        </p:nvSpPr>
        <p:spPr>
          <a:xfrm>
            <a:off x="1371600" y="3632201"/>
            <a:ext cx="9448800" cy="685800"/>
          </a:xfrm>
        </p:spPr>
        <p:txBody>
          <a:bodyPr rtlCol="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p>
        </p:txBody>
      </p:sp>
      <p:sp>
        <p:nvSpPr>
          <p:cNvPr id="4" name="Marcador de fecha 3"/>
          <p:cNvSpPr>
            <a:spLocks noGrp="1"/>
          </p:cNvSpPr>
          <p:nvPr>
            <p:ph type="dt" sz="half" idx="10"/>
          </p:nvPr>
        </p:nvSpPr>
        <p:spPr>
          <a:xfrm>
            <a:off x="7909561" y="4314328"/>
            <a:ext cx="2910840" cy="374642"/>
          </a:xfrm>
        </p:spPr>
        <p:txBody>
          <a:bodyPr rtlCol="0"/>
          <a:lstStyle/>
          <a:p>
            <a:pPr rtl="0"/>
            <a:fld id="{BA79786D-23C8-4E08-BFD9-074CCEAECFAA}" type="datetime1">
              <a:rPr lang="es-ES" noProof="0" smtClean="0"/>
              <a:t>19/12/2023</a:t>
            </a:fld>
            <a:endParaRPr lang="es-ES" noProof="0"/>
          </a:p>
        </p:txBody>
      </p:sp>
      <p:sp>
        <p:nvSpPr>
          <p:cNvPr id="5" name="Marcador de pie de página 4"/>
          <p:cNvSpPr>
            <a:spLocks noGrp="1"/>
          </p:cNvSpPr>
          <p:nvPr>
            <p:ph type="ftr" sz="quarter" idx="11"/>
          </p:nvPr>
        </p:nvSpPr>
        <p:spPr>
          <a:xfrm>
            <a:off x="1371600" y="4323845"/>
            <a:ext cx="6400800" cy="365125"/>
          </a:xfrm>
        </p:spPr>
        <p:txBody>
          <a:bodyPr rtlCol="0"/>
          <a:lstStyle/>
          <a:p>
            <a:pPr rtl="0"/>
            <a:endParaRPr lang="es-ES" noProof="0"/>
          </a:p>
        </p:txBody>
      </p:sp>
      <p:sp>
        <p:nvSpPr>
          <p:cNvPr id="6" name="Marcador de número de diapositiva 5"/>
          <p:cNvSpPr>
            <a:spLocks noGrp="1"/>
          </p:cNvSpPr>
          <p:nvPr>
            <p:ph type="sldNum" sz="quarter" idx="12"/>
          </p:nvPr>
        </p:nvSpPr>
        <p:spPr>
          <a:xfrm>
            <a:off x="8077200" y="1430866"/>
            <a:ext cx="2743200"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contenido 2"/>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18393F5-21F0-4CCA-9C97-63204E25BF53}" type="datetime1">
              <a:rPr lang="es-ES" noProof="0" smtClean="0"/>
              <a:t>19/12/2023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la sección">
    <p:spTree>
      <p:nvGrpSpPr>
        <p:cNvPr id="1" name=""/>
        <p:cNvGrpSpPr/>
        <p:nvPr/>
      </p:nvGrpSpPr>
      <p:grpSpPr>
        <a:xfrm>
          <a:off x="0" y="0"/>
          <a:ext cx="0" cy="0"/>
          <a:chOff x="0" y="0"/>
          <a:chExt cx="0" cy="0"/>
        </a:xfrm>
      </p:grpSpPr>
      <p:pic>
        <p:nvPicPr>
          <p:cNvPr id="9" name="Imagen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685800" y="753533"/>
            <a:ext cx="10820399" cy="2801935"/>
          </a:xfrm>
        </p:spPr>
        <p:txBody>
          <a:bodyPr rtlCol="0" anchor="b">
            <a:normAutofit/>
          </a:bodyPr>
          <a:lstStyle>
            <a:lvl1pPr algn="r">
              <a:defRPr sz="4000"/>
            </a:lvl1pPr>
          </a:lstStyle>
          <a:p>
            <a:pPr rtl="0"/>
            <a:r>
              <a:rPr lang="es-ES" noProof="0"/>
              <a:t>Haga clic para modificar el estilo de título del patrón</a:t>
            </a:r>
          </a:p>
        </p:txBody>
      </p:sp>
      <p:sp>
        <p:nvSpPr>
          <p:cNvPr id="3" name="Marcador de texto 2"/>
          <p:cNvSpPr>
            <a:spLocks noGrp="1"/>
          </p:cNvSpPr>
          <p:nvPr>
            <p:ph type="body" idx="1"/>
          </p:nvPr>
        </p:nvSpPr>
        <p:spPr>
          <a:xfrm>
            <a:off x="1024467" y="3641725"/>
            <a:ext cx="10490200" cy="955675"/>
          </a:xfrm>
        </p:spPr>
        <p:txBody>
          <a:bodyPr rtlCol="0">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a:xfrm>
            <a:off x="7814452" y="381000"/>
            <a:ext cx="2910840" cy="365125"/>
          </a:xfrm>
        </p:spPr>
        <p:txBody>
          <a:bodyPr rtlCol="0"/>
          <a:lstStyle>
            <a:lvl1pPr algn="r">
              <a:defRPr/>
            </a:lvl1pPr>
          </a:lstStyle>
          <a:p>
            <a:pPr rtl="0"/>
            <a:fld id="{F31616DF-067D-4A05-8170-7E267DC9DDF6}" type="datetime1">
              <a:rPr lang="es-ES" noProof="0" smtClean="0"/>
              <a:t>19/12/2023</a:t>
            </a:fld>
            <a:endParaRPr lang="es-ES" noProof="0"/>
          </a:p>
        </p:txBody>
      </p:sp>
      <p:sp>
        <p:nvSpPr>
          <p:cNvPr id="5" name="Marcador de pie de página 4"/>
          <p:cNvSpPr>
            <a:spLocks noGrp="1"/>
          </p:cNvSpPr>
          <p:nvPr>
            <p:ph type="ftr" sz="quarter" idx="11"/>
          </p:nvPr>
        </p:nvSpPr>
        <p:spPr>
          <a:xfrm>
            <a:off x="685800" y="381001"/>
            <a:ext cx="6991492" cy="364065"/>
          </a:xfrm>
        </p:spPr>
        <p:txBody>
          <a:bodyPr rtlCol="0"/>
          <a:lstStyle/>
          <a:p>
            <a:pPr rtl="0"/>
            <a:endParaRPr lang="es-ES" noProof="0"/>
          </a:p>
        </p:txBody>
      </p:sp>
      <p:sp>
        <p:nvSpPr>
          <p:cNvPr id="6" name="Marcador de número de diapositiva 5"/>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contenido 2"/>
          <p:cNvSpPr>
            <a:spLocks noGrp="1"/>
          </p:cNvSpPr>
          <p:nvPr>
            <p:ph sz="half" idx="1"/>
          </p:nvPr>
        </p:nvSpPr>
        <p:spPr>
          <a:xfrm>
            <a:off x="685800" y="2194559"/>
            <a:ext cx="5334000" cy="4024125"/>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p:cNvSpPr>
            <a:spLocks noGrp="1"/>
          </p:cNvSpPr>
          <p:nvPr>
            <p:ph sz="half" idx="2"/>
          </p:nvPr>
        </p:nvSpPr>
        <p:spPr>
          <a:xfrm>
            <a:off x="6172200" y="2194559"/>
            <a:ext cx="5334000" cy="4024125"/>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67483C73-8126-4F44-9A70-3B5E4DBC7B06}" type="datetime1">
              <a:rPr lang="es-ES" noProof="0" smtClean="0"/>
              <a:t>19/12/2023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2895600" y="762000"/>
            <a:ext cx="8610600" cy="1295400"/>
          </a:xfrm>
        </p:spPr>
        <p:txBody>
          <a:bodyPr rtlCol="0"/>
          <a:lstStyle/>
          <a:p>
            <a:pPr rtl="0"/>
            <a:r>
              <a:rPr lang="es-ES" noProof="0"/>
              <a:t>Haga clic para modificar el estilo de título del patrón</a:t>
            </a:r>
          </a:p>
        </p:txBody>
      </p:sp>
      <p:sp>
        <p:nvSpPr>
          <p:cNvPr id="3" name="Marcador de texto 2"/>
          <p:cNvSpPr>
            <a:spLocks noGrp="1"/>
          </p:cNvSpPr>
          <p:nvPr>
            <p:ph type="body" idx="1"/>
          </p:nvPr>
        </p:nvSpPr>
        <p:spPr>
          <a:xfrm>
            <a:off x="914409" y="2183802"/>
            <a:ext cx="5079991" cy="823912"/>
          </a:xfrm>
        </p:spPr>
        <p:txBody>
          <a:bodyPr rtlCol="0"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contenido 3"/>
          <p:cNvSpPr>
            <a:spLocks noGrp="1"/>
          </p:cNvSpPr>
          <p:nvPr>
            <p:ph sz="half" idx="2"/>
          </p:nvPr>
        </p:nvSpPr>
        <p:spPr>
          <a:xfrm>
            <a:off x="685800" y="3132666"/>
            <a:ext cx="5311775" cy="3086019"/>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p:nvPr>
        </p:nvSpPr>
        <p:spPr>
          <a:xfrm>
            <a:off x="6400800" y="2183802"/>
            <a:ext cx="5105400" cy="823912"/>
          </a:xfrm>
        </p:spPr>
        <p:txBody>
          <a:bodyPr rtlCol="0"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contenido 5"/>
          <p:cNvSpPr>
            <a:spLocks noGrp="1"/>
          </p:cNvSpPr>
          <p:nvPr>
            <p:ph sz="quarter" idx="4"/>
          </p:nvPr>
        </p:nvSpPr>
        <p:spPr>
          <a:xfrm>
            <a:off x="6172200" y="3132666"/>
            <a:ext cx="5334000" cy="3086019"/>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13A50786-042D-407E-B9E2-C553026B2942}" type="datetime1">
              <a:rPr lang="es-ES" noProof="0" smtClean="0"/>
              <a:t>19/12/2023</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F31045D5-F3D3-4D16-B331-E6B3FA2F7D8A}" type="datetime1">
              <a:rPr lang="es-ES" noProof="0" smtClean="0"/>
              <a:t>19/12/2023</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4F4CCE9D-0F76-4D12-A194-14575038CD27}" type="datetime1">
              <a:rPr lang="es-ES" noProof="0" smtClean="0"/>
              <a:t>19/12/2023</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85800" y="1524000"/>
            <a:ext cx="4114800" cy="1600200"/>
          </a:xfrm>
        </p:spPr>
        <p:txBody>
          <a:bodyPr rtlCol="0" anchor="b"/>
          <a:lstStyle>
            <a:lvl1pPr algn="l">
              <a:defRPr sz="3200"/>
            </a:lvl1pPr>
          </a:lstStyle>
          <a:p>
            <a:pPr rtl="0"/>
            <a:r>
              <a:rPr lang="es-ES" noProof="0"/>
              <a:t>Haga clic para modificar el estilo de título del patrón</a:t>
            </a:r>
          </a:p>
        </p:txBody>
      </p:sp>
      <p:sp>
        <p:nvSpPr>
          <p:cNvPr id="3" name="Marcador de contenido 2"/>
          <p:cNvSpPr>
            <a:spLocks noGrp="1"/>
          </p:cNvSpPr>
          <p:nvPr>
            <p:ph idx="1"/>
          </p:nvPr>
        </p:nvSpPr>
        <p:spPr>
          <a:xfrm>
            <a:off x="4995582" y="746759"/>
            <a:ext cx="6510618" cy="5471925"/>
          </a:xfrm>
        </p:spPr>
        <p:txBody>
          <a:bodyPr rtlCol="0" anchor="ct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p:cNvSpPr>
            <a:spLocks noGrp="1"/>
          </p:cNvSpPr>
          <p:nvPr>
            <p:ph type="body" sz="half" idx="2"/>
          </p:nvPr>
        </p:nvSpPr>
        <p:spPr>
          <a:xfrm>
            <a:off x="685800" y="3124199"/>
            <a:ext cx="4114800" cy="3094485"/>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0A954C30-0BA0-4ACB-BA25-4FCCB42F6734}" type="datetime1">
              <a:rPr lang="es-ES" noProof="0" smtClean="0"/>
              <a:t>19/12/2023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685800" y="1524000"/>
            <a:ext cx="6873240" cy="1600200"/>
          </a:xfrm>
        </p:spPr>
        <p:txBody>
          <a:bodyPr rtlCol="0" anchor="b"/>
          <a:lstStyle>
            <a:lvl1pPr algn="l">
              <a:defRPr sz="3200"/>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7861238" y="751241"/>
            <a:ext cx="3644962" cy="5467443"/>
          </a:xfrm>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
        <p:nvSpPr>
          <p:cNvPr id="4" name="Marcador de texto 3"/>
          <p:cNvSpPr>
            <a:spLocks noGrp="1"/>
          </p:cNvSpPr>
          <p:nvPr>
            <p:ph type="body" sz="half" idx="2"/>
          </p:nvPr>
        </p:nvSpPr>
        <p:spPr>
          <a:xfrm>
            <a:off x="685800" y="3124199"/>
            <a:ext cx="6873240" cy="3094485"/>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BB6BE2D2-9BE1-4468-AE45-66C37A9A87AD}" type="datetime1">
              <a:rPr lang="es-ES" noProof="0" smtClean="0"/>
              <a:t>19/12/2023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685777" y="4697360"/>
            <a:ext cx="10822034" cy="819355"/>
          </a:xfrm>
        </p:spPr>
        <p:txBody>
          <a:bodyPr rtlCol="0" anchor="b"/>
          <a:lstStyle>
            <a:lvl1pPr algn="l">
              <a:defRPr sz="3200"/>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681727" y="941439"/>
            <a:ext cx="10821840" cy="3478161"/>
          </a:xfrm>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
        <p:nvSpPr>
          <p:cNvPr id="4" name="Marcador de texto 3"/>
          <p:cNvSpPr>
            <a:spLocks noGrp="1"/>
          </p:cNvSpPr>
          <p:nvPr>
            <p:ph type="body" sz="half" idx="2"/>
          </p:nvPr>
        </p:nvSpPr>
        <p:spPr>
          <a:xfrm>
            <a:off x="685800" y="5516715"/>
            <a:ext cx="10820400" cy="701969"/>
          </a:xfrm>
        </p:spPr>
        <p:txBody>
          <a:bodyPr rtlCol="0"/>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46B73089-6AB5-4B0B-BC77-A68206FAB0D6}" type="datetime1">
              <a:rPr lang="es-ES" noProof="0" smtClean="0"/>
              <a:t>19/12/2023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leyenda">
    <p:spTree>
      <p:nvGrpSpPr>
        <p:cNvPr id="1" name=""/>
        <p:cNvGrpSpPr/>
        <p:nvPr/>
      </p:nvGrpSpPr>
      <p:grpSpPr>
        <a:xfrm>
          <a:off x="0" y="0"/>
          <a:ext cx="0" cy="0"/>
          <a:chOff x="0" y="0"/>
          <a:chExt cx="0" cy="0"/>
        </a:xfrm>
      </p:grpSpPr>
      <p:pic>
        <p:nvPicPr>
          <p:cNvPr id="8" name="Imagen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685800" y="753532"/>
            <a:ext cx="10820400" cy="2802467"/>
          </a:xfrm>
        </p:spPr>
        <p:txBody>
          <a:bodyPr rtlCol="0" anchor="ctr"/>
          <a:lstStyle>
            <a:lvl1pPr algn="l">
              <a:defRPr sz="3200"/>
            </a:lvl1pPr>
          </a:lstStyle>
          <a:p>
            <a:pPr rtl="0"/>
            <a:r>
              <a:rPr lang="es-ES" noProof="0"/>
              <a:t>Haga clic para modificar el estilo de título del patrón</a:t>
            </a:r>
          </a:p>
        </p:txBody>
      </p:sp>
      <p:sp>
        <p:nvSpPr>
          <p:cNvPr id="4" name="Marcador de texto 3"/>
          <p:cNvSpPr>
            <a:spLocks noGrp="1"/>
          </p:cNvSpPr>
          <p:nvPr>
            <p:ph type="body" sz="half" idx="2"/>
          </p:nvPr>
        </p:nvSpPr>
        <p:spPr>
          <a:xfrm>
            <a:off x="1024467" y="3649133"/>
            <a:ext cx="10130516" cy="99906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a:xfrm>
            <a:off x="7814452" y="381000"/>
            <a:ext cx="2910840" cy="365125"/>
          </a:xfrm>
        </p:spPr>
        <p:txBody>
          <a:bodyPr rtlCol="0"/>
          <a:lstStyle>
            <a:lvl1pPr algn="r">
              <a:defRPr/>
            </a:lvl1pPr>
          </a:lstStyle>
          <a:p>
            <a:pPr rtl="0"/>
            <a:fld id="{448B3521-F172-41E2-90A5-F7DA766753B3}" type="datetime1">
              <a:rPr lang="es-ES" noProof="0" smtClean="0"/>
              <a:t>19/12/2023</a:t>
            </a:fld>
            <a:endParaRPr lang="es-ES" noProof="0"/>
          </a:p>
        </p:txBody>
      </p:sp>
      <p:sp>
        <p:nvSpPr>
          <p:cNvPr id="6" name="Marcador de pie de página 5"/>
          <p:cNvSpPr>
            <a:spLocks noGrp="1"/>
          </p:cNvSpPr>
          <p:nvPr>
            <p:ph type="ftr" sz="quarter" idx="11"/>
          </p:nvPr>
        </p:nvSpPr>
        <p:spPr>
          <a:xfrm>
            <a:off x="685800" y="379941"/>
            <a:ext cx="6991492" cy="365125"/>
          </a:xfrm>
        </p:spPr>
        <p:txBody>
          <a:bodyPr rtlCol="0"/>
          <a:lstStyle/>
          <a:p>
            <a:pPr rtl="0"/>
            <a:endParaRPr lang="es-ES" noProof="0"/>
          </a:p>
        </p:txBody>
      </p:sp>
      <p:sp>
        <p:nvSpPr>
          <p:cNvPr id="7" name="Marcador de número de diapositiva 6"/>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leyenda">
    <p:spTree>
      <p:nvGrpSpPr>
        <p:cNvPr id="1" name=""/>
        <p:cNvGrpSpPr/>
        <p:nvPr/>
      </p:nvGrpSpPr>
      <p:grpSpPr>
        <a:xfrm>
          <a:off x="0" y="0"/>
          <a:ext cx="0" cy="0"/>
          <a:chOff x="0" y="0"/>
          <a:chExt cx="0" cy="0"/>
        </a:xfrm>
      </p:grpSpPr>
      <p:pic>
        <p:nvPicPr>
          <p:cNvPr id="13" name="Imagen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1024467" y="753533"/>
            <a:ext cx="10151533" cy="2604495"/>
          </a:xfrm>
        </p:spPr>
        <p:txBody>
          <a:bodyPr rtlCol="0" anchor="ctr"/>
          <a:lstStyle>
            <a:lvl1pPr algn="l">
              <a:defRPr sz="3200"/>
            </a:lvl1pPr>
          </a:lstStyle>
          <a:p>
            <a:pPr rtl="0"/>
            <a:r>
              <a:rPr lang="es-ES" noProof="0"/>
              <a:t>Haga clic para modificar el estilo de título del patrón</a:t>
            </a:r>
          </a:p>
        </p:txBody>
      </p:sp>
      <p:sp>
        <p:nvSpPr>
          <p:cNvPr id="12" name="Marcador de texto 3"/>
          <p:cNvSpPr>
            <a:spLocks noGrp="1"/>
          </p:cNvSpPr>
          <p:nvPr>
            <p:ph type="body" sz="half" idx="13"/>
          </p:nvPr>
        </p:nvSpPr>
        <p:spPr>
          <a:xfrm>
            <a:off x="1303865" y="3365556"/>
            <a:ext cx="9592736" cy="444443"/>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4" name="Marcador de texto 3"/>
          <p:cNvSpPr>
            <a:spLocks noGrp="1"/>
          </p:cNvSpPr>
          <p:nvPr>
            <p:ph type="body" sz="half" idx="2"/>
          </p:nvPr>
        </p:nvSpPr>
        <p:spPr>
          <a:xfrm>
            <a:off x="1024467" y="3959862"/>
            <a:ext cx="10151533" cy="679871"/>
          </a:xfrm>
        </p:spPr>
        <p:txBody>
          <a:bodyPr rtlCol="0"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a:xfrm>
            <a:off x="7814452" y="381000"/>
            <a:ext cx="2910840" cy="365125"/>
          </a:xfrm>
        </p:spPr>
        <p:txBody>
          <a:bodyPr rtlCol="0"/>
          <a:lstStyle>
            <a:lvl1pPr algn="r">
              <a:defRPr/>
            </a:lvl1pPr>
          </a:lstStyle>
          <a:p>
            <a:pPr rtl="0"/>
            <a:fld id="{32C99087-A432-4392-BBBE-30A17E7D270B}" type="datetime1">
              <a:rPr lang="es-ES" noProof="0" smtClean="0"/>
              <a:t>19/12/2023</a:t>
            </a:fld>
            <a:endParaRPr lang="es-ES" noProof="0"/>
          </a:p>
        </p:txBody>
      </p:sp>
      <p:sp>
        <p:nvSpPr>
          <p:cNvPr id="6" name="Marcador de pie de página 5"/>
          <p:cNvSpPr>
            <a:spLocks noGrp="1"/>
          </p:cNvSpPr>
          <p:nvPr>
            <p:ph type="ftr" sz="quarter" idx="11"/>
          </p:nvPr>
        </p:nvSpPr>
        <p:spPr>
          <a:xfrm>
            <a:off x="685800" y="379941"/>
            <a:ext cx="6991492" cy="365125"/>
          </a:xfrm>
        </p:spPr>
        <p:txBody>
          <a:bodyPr rtlCol="0"/>
          <a:lstStyle/>
          <a:p>
            <a:pPr rtl="0"/>
            <a:endParaRPr lang="es-ES" noProof="0"/>
          </a:p>
        </p:txBody>
      </p:sp>
      <p:sp>
        <p:nvSpPr>
          <p:cNvPr id="7" name="Marcador de número de diapositiva 6"/>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
        <p:nvSpPr>
          <p:cNvPr id="9" name="Cuadro de texto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es-ES" sz="8000" noProof="0">
                <a:solidFill>
                  <a:schemeClr val="tx1"/>
                </a:solidFill>
                <a:effectLst/>
              </a:rPr>
              <a:t>“</a:t>
            </a:r>
          </a:p>
        </p:txBody>
      </p:sp>
      <p:sp>
        <p:nvSpPr>
          <p:cNvPr id="10" name="Cuadro de texto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9" name="Imagen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1"/>
          <p:cNvSpPr>
            <a:spLocks noGrp="1"/>
          </p:cNvSpPr>
          <p:nvPr>
            <p:ph type="title"/>
          </p:nvPr>
        </p:nvSpPr>
        <p:spPr>
          <a:xfrm>
            <a:off x="1024495" y="1124701"/>
            <a:ext cx="10146186" cy="2511835"/>
          </a:xfrm>
        </p:spPr>
        <p:txBody>
          <a:bodyPr rtlCol="0" anchor="b"/>
          <a:lstStyle>
            <a:lvl1pPr algn="l">
              <a:defRPr sz="3200"/>
            </a:lvl1pPr>
          </a:lstStyle>
          <a:p>
            <a:pPr rtl="0"/>
            <a:r>
              <a:rPr lang="es-ES" noProof="0"/>
              <a:t>Haga clic para modificar el estilo de título del patrón</a:t>
            </a:r>
          </a:p>
        </p:txBody>
      </p:sp>
      <p:sp>
        <p:nvSpPr>
          <p:cNvPr id="4" name="Marcador de texto 3"/>
          <p:cNvSpPr>
            <a:spLocks noGrp="1"/>
          </p:cNvSpPr>
          <p:nvPr>
            <p:ph type="body" sz="half" idx="2"/>
          </p:nvPr>
        </p:nvSpPr>
        <p:spPr>
          <a:xfrm>
            <a:off x="1024467" y="3648315"/>
            <a:ext cx="10144654" cy="999885"/>
          </a:xfrm>
        </p:spPr>
        <p:txBody>
          <a:bodyPr rtlCol="0"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p:cNvSpPr>
            <a:spLocks noGrp="1"/>
          </p:cNvSpPr>
          <p:nvPr>
            <p:ph type="dt" sz="half" idx="10"/>
          </p:nvPr>
        </p:nvSpPr>
        <p:spPr>
          <a:xfrm>
            <a:off x="7814452" y="378883"/>
            <a:ext cx="2910840" cy="365125"/>
          </a:xfrm>
        </p:spPr>
        <p:txBody>
          <a:bodyPr rtlCol="0"/>
          <a:lstStyle>
            <a:lvl1pPr algn="r">
              <a:defRPr/>
            </a:lvl1pPr>
          </a:lstStyle>
          <a:p>
            <a:pPr rtl="0"/>
            <a:fld id="{B297D2B0-1E08-4A05-8253-996755CEEBC6}" type="datetime1">
              <a:rPr lang="es-ES" noProof="0" smtClean="0"/>
              <a:t>19/12/2023</a:t>
            </a:fld>
            <a:endParaRPr lang="es-ES" noProof="0"/>
          </a:p>
        </p:txBody>
      </p:sp>
      <p:sp>
        <p:nvSpPr>
          <p:cNvPr id="6" name="Marcador de pie de página 5"/>
          <p:cNvSpPr>
            <a:spLocks noGrp="1"/>
          </p:cNvSpPr>
          <p:nvPr>
            <p:ph type="ftr" sz="quarter" idx="11"/>
          </p:nvPr>
        </p:nvSpPr>
        <p:spPr>
          <a:xfrm>
            <a:off x="685800" y="378883"/>
            <a:ext cx="6991492" cy="365125"/>
          </a:xfrm>
        </p:spPr>
        <p:txBody>
          <a:bodyPr rtlCol="0"/>
          <a:lstStyle/>
          <a:p>
            <a:pPr rtl="0"/>
            <a:endParaRPr lang="es-ES" noProof="0"/>
          </a:p>
        </p:txBody>
      </p:sp>
      <p:sp>
        <p:nvSpPr>
          <p:cNvPr id="7" name="Marcador de número de diapositiva 6"/>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ítulo 1"/>
          <p:cNvSpPr>
            <a:spLocks noGrp="1"/>
          </p:cNvSpPr>
          <p:nvPr>
            <p:ph type="title"/>
          </p:nvPr>
        </p:nvSpPr>
        <p:spPr>
          <a:xfrm>
            <a:off x="2895600" y="761999"/>
            <a:ext cx="8610599" cy="1303867"/>
          </a:xfrm>
        </p:spPr>
        <p:txBody>
          <a:bodyPr rtlCol="0"/>
          <a:lstStyle/>
          <a:p>
            <a:pPr rtl="0"/>
            <a:r>
              <a:rPr lang="es-ES" noProof="0"/>
              <a:t>Haga clic para modificar el estilo de título del patrón</a:t>
            </a:r>
          </a:p>
        </p:txBody>
      </p:sp>
      <p:sp>
        <p:nvSpPr>
          <p:cNvPr id="7" name="Marcador de texto 2"/>
          <p:cNvSpPr>
            <a:spLocks noGrp="1"/>
          </p:cNvSpPr>
          <p:nvPr>
            <p:ph type="body" idx="1"/>
          </p:nvPr>
        </p:nvSpPr>
        <p:spPr>
          <a:xfrm>
            <a:off x="685800" y="2202080"/>
            <a:ext cx="3456432" cy="617320"/>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8" name="Marcador de texto 3"/>
          <p:cNvSpPr>
            <a:spLocks noGrp="1"/>
          </p:cNvSpPr>
          <p:nvPr>
            <p:ph type="body" sz="half" idx="15"/>
          </p:nvPr>
        </p:nvSpPr>
        <p:spPr>
          <a:xfrm>
            <a:off x="685799" y="2904565"/>
            <a:ext cx="3456432" cy="331413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9" name="Marcador de texto 4"/>
          <p:cNvSpPr>
            <a:spLocks noGrp="1"/>
          </p:cNvSpPr>
          <p:nvPr>
            <p:ph type="body" sz="quarter" idx="3"/>
          </p:nvPr>
        </p:nvSpPr>
        <p:spPr>
          <a:xfrm>
            <a:off x="4368800" y="2201333"/>
            <a:ext cx="3456432" cy="626534"/>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0" name="Marcador de texto 3"/>
          <p:cNvSpPr>
            <a:spLocks noGrp="1"/>
          </p:cNvSpPr>
          <p:nvPr>
            <p:ph type="body" sz="half" idx="16"/>
          </p:nvPr>
        </p:nvSpPr>
        <p:spPr>
          <a:xfrm>
            <a:off x="4366858" y="2904067"/>
            <a:ext cx="3456432" cy="331461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11" name="Marcador de texto 4"/>
          <p:cNvSpPr>
            <a:spLocks noGrp="1"/>
          </p:cNvSpPr>
          <p:nvPr>
            <p:ph type="body" sz="quarter" idx="13"/>
          </p:nvPr>
        </p:nvSpPr>
        <p:spPr>
          <a:xfrm>
            <a:off x="8051800" y="2192866"/>
            <a:ext cx="3456432" cy="626534"/>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2" name="Marcador de texto 3"/>
          <p:cNvSpPr>
            <a:spLocks noGrp="1"/>
          </p:cNvSpPr>
          <p:nvPr>
            <p:ph type="body" sz="half" idx="17"/>
          </p:nvPr>
        </p:nvSpPr>
        <p:spPr>
          <a:xfrm>
            <a:off x="8051801" y="2904565"/>
            <a:ext cx="3456432" cy="331413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3" name="Marcador de fecha 2"/>
          <p:cNvSpPr>
            <a:spLocks noGrp="1"/>
          </p:cNvSpPr>
          <p:nvPr>
            <p:ph type="dt" sz="half" idx="10"/>
          </p:nvPr>
        </p:nvSpPr>
        <p:spPr/>
        <p:txBody>
          <a:bodyPr rtlCol="0"/>
          <a:lstStyle/>
          <a:p>
            <a:pPr rtl="0"/>
            <a:fld id="{1949B06C-28FF-467D-91DA-A50D86A742DB}" type="datetime1">
              <a:rPr lang="es-ES" noProof="0" smtClean="0"/>
              <a:t>19/12/2023</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ítulo 1"/>
          <p:cNvSpPr>
            <a:spLocks noGrp="1"/>
          </p:cNvSpPr>
          <p:nvPr>
            <p:ph type="title"/>
          </p:nvPr>
        </p:nvSpPr>
        <p:spPr>
          <a:xfrm>
            <a:off x="2895600" y="762000"/>
            <a:ext cx="8610599" cy="1295400"/>
          </a:xfrm>
        </p:spPr>
        <p:txBody>
          <a:bodyPr rtlCol="0"/>
          <a:lstStyle/>
          <a:p>
            <a:pPr rtl="0"/>
            <a:r>
              <a:rPr lang="es-ES" noProof="0"/>
              <a:t>Haga clic para modificar el estilo de título del patrón</a:t>
            </a:r>
          </a:p>
        </p:txBody>
      </p:sp>
      <p:sp>
        <p:nvSpPr>
          <p:cNvPr id="19" name="Marcador de texto 2"/>
          <p:cNvSpPr>
            <a:spLocks noGrp="1"/>
          </p:cNvSpPr>
          <p:nvPr>
            <p:ph type="body" idx="1"/>
          </p:nvPr>
        </p:nvSpPr>
        <p:spPr>
          <a:xfrm>
            <a:off x="688618" y="4191000"/>
            <a:ext cx="3451582" cy="682765"/>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0" name="Marcador de posición de imagen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21" name="Marcador de texto 3"/>
          <p:cNvSpPr>
            <a:spLocks noGrp="1"/>
          </p:cNvSpPr>
          <p:nvPr>
            <p:ph type="body" sz="half" idx="18"/>
          </p:nvPr>
        </p:nvSpPr>
        <p:spPr>
          <a:xfrm>
            <a:off x="688618" y="4873764"/>
            <a:ext cx="3451582" cy="1344921"/>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22" name="Marcador de texto 4"/>
          <p:cNvSpPr>
            <a:spLocks noGrp="1"/>
          </p:cNvSpPr>
          <p:nvPr>
            <p:ph type="body" sz="quarter" idx="3"/>
          </p:nvPr>
        </p:nvSpPr>
        <p:spPr>
          <a:xfrm>
            <a:off x="4374263" y="4191000"/>
            <a:ext cx="3448935" cy="682765"/>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3" name="Marcador de posición de imagen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24" name="Marcador de texto 3"/>
          <p:cNvSpPr>
            <a:spLocks noGrp="1"/>
          </p:cNvSpPr>
          <p:nvPr>
            <p:ph type="body" sz="half" idx="19"/>
          </p:nvPr>
        </p:nvSpPr>
        <p:spPr>
          <a:xfrm>
            <a:off x="4374264" y="4873763"/>
            <a:ext cx="3448935" cy="1344921"/>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25" name="Marcador de texto 4"/>
          <p:cNvSpPr>
            <a:spLocks noGrp="1"/>
          </p:cNvSpPr>
          <p:nvPr>
            <p:ph type="body" sz="quarter" idx="13"/>
          </p:nvPr>
        </p:nvSpPr>
        <p:spPr>
          <a:xfrm>
            <a:off x="8049731" y="4191000"/>
            <a:ext cx="3456469" cy="682765"/>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6" name="Marcador de posición de imagen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27" name="Marcador de texto 3"/>
          <p:cNvSpPr>
            <a:spLocks noGrp="1"/>
          </p:cNvSpPr>
          <p:nvPr>
            <p:ph type="body" sz="half" idx="20"/>
          </p:nvPr>
        </p:nvSpPr>
        <p:spPr>
          <a:xfrm>
            <a:off x="8049731" y="4873761"/>
            <a:ext cx="3452445" cy="1344921"/>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3" name="Marcador de fecha 2"/>
          <p:cNvSpPr>
            <a:spLocks noGrp="1"/>
          </p:cNvSpPr>
          <p:nvPr>
            <p:ph type="dt" sz="half" idx="10"/>
          </p:nvPr>
        </p:nvSpPr>
        <p:spPr/>
        <p:txBody>
          <a:bodyPr rtlCol="0"/>
          <a:lstStyle/>
          <a:p>
            <a:pPr rtl="0"/>
            <a:fld id="{D945255D-A2C9-47D2-9C86-168A7F2FA7AC}" type="datetime1">
              <a:rPr lang="es-ES" noProof="0" smtClean="0"/>
              <a:t>19/12/2023</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685800" y="2194559"/>
            <a:ext cx="10820400" cy="4024125"/>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141809D2-C17B-4CC3-8F99-CA6B7FAE129E}" type="datetime1">
              <a:rPr lang="es-ES" noProof="0" smtClean="0"/>
              <a:t>19/12/2023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8" name="Imagen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ítulo vertical 1"/>
          <p:cNvSpPr>
            <a:spLocks noGrp="1"/>
          </p:cNvSpPr>
          <p:nvPr>
            <p:ph type="title" orient="vert"/>
          </p:nvPr>
        </p:nvSpPr>
        <p:spPr>
          <a:xfrm>
            <a:off x="9448800" y="745066"/>
            <a:ext cx="2057400" cy="3903133"/>
          </a:xfrm>
        </p:spPr>
        <p:txBody>
          <a:bodyPr vert="eaVert" rtlCol="0"/>
          <a:lstStyle>
            <a:lvl1pPr algn="l">
              <a:defRPr/>
            </a:lvl1pPr>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1024466" y="745067"/>
            <a:ext cx="8204201" cy="3903133"/>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a:xfrm>
            <a:off x="7814452" y="379941"/>
            <a:ext cx="2910840" cy="365125"/>
          </a:xfrm>
        </p:spPr>
        <p:txBody>
          <a:bodyPr rtlCol="0"/>
          <a:lstStyle>
            <a:lvl1pPr algn="r">
              <a:defRPr/>
            </a:lvl1pPr>
          </a:lstStyle>
          <a:p>
            <a:pPr rtl="0"/>
            <a:fld id="{A6D68C76-680B-4E3C-9E40-6B1AA6DF1543}" type="datetime1">
              <a:rPr lang="es-ES" noProof="0" smtClean="0"/>
              <a:t>19/12/2023</a:t>
            </a:fld>
            <a:endParaRPr lang="es-ES" noProof="0"/>
          </a:p>
        </p:txBody>
      </p:sp>
      <p:sp>
        <p:nvSpPr>
          <p:cNvPr id="5" name="Marcador de pie de página 4"/>
          <p:cNvSpPr>
            <a:spLocks noGrp="1"/>
          </p:cNvSpPr>
          <p:nvPr>
            <p:ph type="ftr" sz="quarter" idx="11"/>
          </p:nvPr>
        </p:nvSpPr>
        <p:spPr>
          <a:xfrm>
            <a:off x="685800" y="381000"/>
            <a:ext cx="6991492" cy="365125"/>
          </a:xfrm>
        </p:spPr>
        <p:txBody>
          <a:bodyPr rtlCol="0"/>
          <a:lstStyle/>
          <a:p>
            <a:pPr rtl="0"/>
            <a:endParaRPr lang="es-ES" noProof="0"/>
          </a:p>
        </p:txBody>
      </p:sp>
      <p:sp>
        <p:nvSpPr>
          <p:cNvPr id="6" name="Marcador de número de diapositiva 5"/>
          <p:cNvSpPr>
            <a:spLocks noGrp="1"/>
          </p:cNvSpPr>
          <p:nvPr>
            <p:ph type="sldNum" sz="quarter" idx="12"/>
          </p:nvPr>
        </p:nvSpPr>
        <p:spPr>
          <a:xfrm>
            <a:off x="10862452" y="381000"/>
            <a:ext cx="643748" cy="365125"/>
          </a:xfrm>
        </p:spPr>
        <p:txBody>
          <a:bodyPr rtlCol="0"/>
          <a:lstStyle/>
          <a:p>
            <a:pPr rtl="0"/>
            <a:fld id="{6D22F896-40B5-4ADD-8801-0D06FADFA095}" type="slidenum">
              <a:rPr lang="es-ES" noProof="0" smtClean="0"/>
              <a:t>‹Nº›</a:t>
            </a:fld>
            <a:endParaRPr lang="es-E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Marcador de título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EA091CD9-CC5F-428A-B60C-D1F589FF6F25}" type="datetime1">
              <a:rPr lang="es-ES" noProof="0" smtClean="0"/>
              <a:t>19/12/2023</a:t>
            </a:fld>
            <a:endParaRPr lang="es-ES" noProof="0"/>
          </a:p>
        </p:txBody>
      </p:sp>
      <p:sp>
        <p:nvSpPr>
          <p:cNvPr id="5" name="Marcador de pie de página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rtl="0"/>
            <a:endParaRPr lang="es-ES" noProof="0"/>
          </a:p>
        </p:txBody>
      </p:sp>
      <p:sp>
        <p:nvSpPr>
          <p:cNvPr id="6" name="Marcador de número de diapositiva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6D22F896-40B5-4ADD-8801-0D06FADFA095}" type="slidenum">
              <a:rPr lang="es-ES" noProof="0" smtClean="0"/>
              <a:pPr rtl="0"/>
              <a:t>‹Nº›</a:t>
            </a:fld>
            <a:endParaRPr lang="es-ES" noProof="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03361" y="552361"/>
            <a:ext cx="9448800" cy="1825096"/>
          </a:xfrm>
        </p:spPr>
        <p:txBody>
          <a:bodyPr rtlCol="0"/>
          <a:lstStyle/>
          <a:p>
            <a:pPr algn="ctr"/>
            <a:r>
              <a:rPr lang="es-ES" b="1" i="1" dirty="0">
                <a:solidFill>
                  <a:schemeClr val="tx2"/>
                </a:solidFill>
                <a:latin typeface="Arial"/>
                <a:cs typeface="Arial"/>
              </a:rPr>
              <a:t>Smart </a:t>
            </a:r>
            <a:r>
              <a:rPr lang="es-ES" b="1" i="1" dirty="0" err="1">
                <a:solidFill>
                  <a:schemeClr val="tx2"/>
                </a:solidFill>
                <a:latin typeface="Arial"/>
                <a:cs typeface="Arial"/>
              </a:rPr>
              <a:t>contracts</a:t>
            </a:r>
            <a:r>
              <a:rPr lang="es-ES" b="1" i="1" dirty="0">
                <a:solidFill>
                  <a:schemeClr val="tx2"/>
                </a:solidFill>
                <a:latin typeface="Arial"/>
                <a:cs typeface="Arial"/>
              </a:rPr>
              <a:t> con </a:t>
            </a:r>
            <a:r>
              <a:rPr lang="es-ES" b="1" i="1" dirty="0" err="1">
                <a:solidFill>
                  <a:schemeClr val="tx2"/>
                </a:solidFill>
                <a:latin typeface="Arial"/>
                <a:cs typeface="Arial"/>
              </a:rPr>
              <a:t>haskell</a:t>
            </a:r>
            <a:endParaRPr lang="es-ES" b="1" i="1" dirty="0">
              <a:solidFill>
                <a:schemeClr val="tx2"/>
              </a:solidFill>
              <a:latin typeface="Arial"/>
              <a:cs typeface="Arial"/>
            </a:endParaRPr>
          </a:p>
        </p:txBody>
      </p:sp>
      <p:sp>
        <p:nvSpPr>
          <p:cNvPr id="3" name="Subtítulo 2"/>
          <p:cNvSpPr>
            <a:spLocks noGrp="1"/>
          </p:cNvSpPr>
          <p:nvPr>
            <p:ph type="subTitle" idx="1"/>
          </p:nvPr>
        </p:nvSpPr>
        <p:spPr>
          <a:xfrm>
            <a:off x="802943" y="5940947"/>
            <a:ext cx="9448800" cy="685800"/>
          </a:xfrm>
        </p:spPr>
        <p:txBody>
          <a:bodyPr vert="horz" lIns="91440" tIns="45720" rIns="91440" bIns="45720" rtlCol="0" anchor="t">
            <a:normAutofit/>
          </a:bodyPr>
          <a:lstStyle/>
          <a:p>
            <a:r>
              <a:rPr lang="es-ES" sz="2200" b="1" dirty="0"/>
              <a:t>Manuel Ramírez Ballesteros</a:t>
            </a:r>
          </a:p>
        </p:txBody>
      </p:sp>
      <p:sp>
        <p:nvSpPr>
          <p:cNvPr id="4" name="CuadroTexto 3">
            <a:extLst>
              <a:ext uri="{FF2B5EF4-FFF2-40B4-BE49-F238E27FC236}">
                <a16:creationId xmlns:a16="http://schemas.microsoft.com/office/drawing/2014/main" id="{806F76A8-CD35-53C7-58B1-B8819CDD409C}"/>
              </a:ext>
            </a:extLst>
          </p:cNvPr>
          <p:cNvSpPr txBox="1"/>
          <p:nvPr/>
        </p:nvSpPr>
        <p:spPr>
          <a:xfrm>
            <a:off x="2322962" y="2934268"/>
            <a:ext cx="698026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4000" b="1" dirty="0">
                <a:solidFill>
                  <a:schemeClr val="tx2"/>
                </a:solidFill>
                <a:latin typeface="Arial"/>
                <a:cs typeface="Arial"/>
              </a:rPr>
              <a:t>Proyecto Final:</a:t>
            </a:r>
            <a:endParaRPr lang="es-ES">
              <a:solidFill>
                <a:schemeClr val="tx2"/>
              </a:solidFill>
              <a:latin typeface="Arial"/>
              <a:cs typeface="Arial"/>
            </a:endParaRPr>
          </a:p>
          <a:p>
            <a:endParaRPr lang="es-ES" sz="4000" b="1" dirty="0">
              <a:latin typeface="Arial"/>
              <a:cs typeface="Arial"/>
            </a:endParaRPr>
          </a:p>
          <a:p>
            <a:pPr algn="ctr"/>
            <a:r>
              <a:rPr lang="es-ES" sz="4000" b="1" dirty="0">
                <a:solidFill>
                  <a:schemeClr val="tx2"/>
                </a:solidFill>
                <a:latin typeface="Arial"/>
                <a:cs typeface="Arial"/>
              </a:rPr>
              <a:t>Modelos Avanzados de Computación</a:t>
            </a:r>
          </a:p>
        </p:txBody>
      </p:sp>
    </p:spTree>
    <p:extLst>
      <p:ext uri="{BB962C8B-B14F-4D97-AF65-F5344CB8AC3E}">
        <p14:creationId xmlns:p14="http://schemas.microsoft.com/office/powerpoint/2010/main" val="3402371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12364E-7453-2962-91AC-B10413A12FA9}"/>
              </a:ext>
            </a:extLst>
          </p:cNvPr>
          <p:cNvSpPr>
            <a:spLocks noGrp="1"/>
          </p:cNvSpPr>
          <p:nvPr>
            <p:ph type="ctrTitle"/>
          </p:nvPr>
        </p:nvSpPr>
        <p:spPr>
          <a:xfrm>
            <a:off x="4783540" y="404510"/>
            <a:ext cx="6196084" cy="972111"/>
          </a:xfrm>
        </p:spPr>
        <p:txBody>
          <a:bodyPr/>
          <a:lstStyle/>
          <a:p>
            <a:r>
              <a:rPr lang="es-ES" b="1" err="1">
                <a:solidFill>
                  <a:schemeClr val="tx2"/>
                </a:solidFill>
                <a:latin typeface="Arial"/>
                <a:cs typeface="Arial"/>
              </a:rPr>
              <a:t>ÍNdice</a:t>
            </a:r>
            <a:r>
              <a:rPr lang="es-ES" b="1" dirty="0">
                <a:solidFill>
                  <a:schemeClr val="tx2"/>
                </a:solidFill>
              </a:rPr>
              <a:t>:</a:t>
            </a:r>
          </a:p>
        </p:txBody>
      </p:sp>
      <p:sp>
        <p:nvSpPr>
          <p:cNvPr id="3" name="Subtítulo 2">
            <a:extLst>
              <a:ext uri="{FF2B5EF4-FFF2-40B4-BE49-F238E27FC236}">
                <a16:creationId xmlns:a16="http://schemas.microsoft.com/office/drawing/2014/main" id="{7BD2AE8C-B2AA-8F2C-4281-78407487684F}"/>
              </a:ext>
            </a:extLst>
          </p:cNvPr>
          <p:cNvSpPr>
            <a:spLocks noGrp="1"/>
          </p:cNvSpPr>
          <p:nvPr>
            <p:ph type="subTitle" idx="1"/>
          </p:nvPr>
        </p:nvSpPr>
        <p:spPr>
          <a:xfrm>
            <a:off x="1576316" y="1525812"/>
            <a:ext cx="5320353" cy="4975830"/>
          </a:xfrm>
        </p:spPr>
        <p:txBody>
          <a:bodyPr vert="horz" lIns="91440" tIns="45720" rIns="91440" bIns="45720" rtlCol="0" anchor="t">
            <a:normAutofit/>
          </a:bodyPr>
          <a:lstStyle/>
          <a:p>
            <a:pPr marL="342900" indent="-342900">
              <a:buFont typeface="Calibri" panose="020B0604020202020204" pitchFamily="34" charset="0"/>
              <a:buChar char="-"/>
            </a:pPr>
            <a:r>
              <a:rPr lang="es-ES" dirty="0">
                <a:solidFill>
                  <a:schemeClr val="tx2"/>
                </a:solidFill>
                <a:latin typeface="Arial"/>
                <a:cs typeface="Arial"/>
              </a:rPr>
              <a:t>¿Qué es Cardano?</a:t>
            </a:r>
          </a:p>
          <a:p>
            <a:pPr marL="342900" indent="-342900">
              <a:buFont typeface="Calibri" panose="020B0604020202020204" pitchFamily="34" charset="0"/>
              <a:buChar char="-"/>
            </a:pPr>
            <a:r>
              <a:rPr lang="es-ES" dirty="0">
                <a:solidFill>
                  <a:schemeClr val="tx2"/>
                </a:solidFill>
                <a:latin typeface="Arial"/>
                <a:cs typeface="Arial"/>
              </a:rPr>
              <a:t>¿Por qué en Haskell?</a:t>
            </a:r>
          </a:p>
          <a:p>
            <a:pPr marL="342900" indent="-342900">
              <a:buFont typeface="Calibri" panose="020B0604020202020204" pitchFamily="34" charset="0"/>
              <a:buChar char="-"/>
            </a:pPr>
            <a:r>
              <a:rPr lang="es-ES" dirty="0">
                <a:solidFill>
                  <a:schemeClr val="tx2"/>
                </a:solidFill>
                <a:latin typeface="Arial"/>
                <a:cs typeface="Arial"/>
              </a:rPr>
              <a:t>¿Qué es Marlowe?</a:t>
            </a:r>
          </a:p>
          <a:p>
            <a:pPr marL="342900" indent="-342900">
              <a:buFont typeface="Calibri" panose="020B0604020202020204" pitchFamily="34" charset="0"/>
              <a:buChar char="-"/>
            </a:pPr>
            <a:r>
              <a:rPr lang="es-ES" dirty="0">
                <a:solidFill>
                  <a:schemeClr val="tx2"/>
                </a:solidFill>
                <a:latin typeface="Arial"/>
                <a:cs typeface="Arial"/>
              </a:rPr>
              <a:t>Participantes, Roles y Claves Públicas</a:t>
            </a:r>
          </a:p>
          <a:p>
            <a:pPr marL="342900" indent="-342900">
              <a:buFont typeface="Calibri" panose="020B0604020202020204" pitchFamily="34" charset="0"/>
              <a:buChar char="-"/>
            </a:pPr>
            <a:r>
              <a:rPr lang="es-ES" dirty="0">
                <a:solidFill>
                  <a:schemeClr val="tx2"/>
                </a:solidFill>
                <a:latin typeface="Arial"/>
                <a:cs typeface="Arial"/>
              </a:rPr>
              <a:t>Contratos de Marlowe</a:t>
            </a:r>
          </a:p>
          <a:p>
            <a:pPr marL="342900" indent="-342900">
              <a:buFont typeface="Calibri" panose="020B0604020202020204" pitchFamily="34" charset="0"/>
              <a:buChar char="-"/>
            </a:pPr>
            <a:r>
              <a:rPr lang="es-ES" dirty="0">
                <a:solidFill>
                  <a:schemeClr val="tx2"/>
                </a:solidFill>
                <a:latin typeface="Arial"/>
                <a:cs typeface="Arial"/>
              </a:rPr>
              <a:t>Tipos de contratos</a:t>
            </a:r>
          </a:p>
          <a:p>
            <a:pPr marL="342900" indent="-342900">
              <a:buFont typeface="Calibri" panose="020B0604020202020204" pitchFamily="34" charset="0"/>
              <a:buChar char="-"/>
            </a:pPr>
            <a:r>
              <a:rPr lang="es-ES" dirty="0" err="1">
                <a:solidFill>
                  <a:schemeClr val="tx2"/>
                </a:solidFill>
                <a:latin typeface="Arial"/>
                <a:cs typeface="Arial"/>
              </a:rPr>
              <a:t>Playground</a:t>
            </a:r>
          </a:p>
          <a:p>
            <a:pPr marL="342900" indent="-342900">
              <a:buFont typeface="Calibri" panose="020B0604020202020204" pitchFamily="34" charset="0"/>
              <a:buChar char="-"/>
            </a:pPr>
            <a:r>
              <a:rPr lang="es-ES" dirty="0">
                <a:solidFill>
                  <a:schemeClr val="tx2"/>
                </a:solidFill>
                <a:latin typeface="Arial"/>
                <a:cs typeface="Arial"/>
              </a:rPr>
              <a:t>Ejemplo: Zero </a:t>
            </a:r>
            <a:r>
              <a:rPr lang="es-ES" dirty="0" err="1">
                <a:solidFill>
                  <a:schemeClr val="tx2"/>
                </a:solidFill>
                <a:latin typeface="Arial"/>
                <a:cs typeface="Arial"/>
              </a:rPr>
              <a:t>Coupon</a:t>
            </a:r>
            <a:r>
              <a:rPr lang="es-ES" dirty="0">
                <a:solidFill>
                  <a:schemeClr val="tx2"/>
                </a:solidFill>
                <a:latin typeface="Arial"/>
                <a:cs typeface="Arial"/>
              </a:rPr>
              <a:t> Bond</a:t>
            </a:r>
          </a:p>
          <a:p>
            <a:pPr marL="342900" indent="-342900">
              <a:buFont typeface="Calibri" panose="020B0604020202020204" pitchFamily="34" charset="0"/>
              <a:buChar char="-"/>
            </a:pPr>
            <a:r>
              <a:rPr lang="es-ES" dirty="0">
                <a:solidFill>
                  <a:schemeClr val="tx2"/>
                </a:solidFill>
                <a:latin typeface="Arial"/>
                <a:cs typeface="Arial"/>
              </a:rPr>
              <a:t>Ejemplo Modificado</a:t>
            </a:r>
          </a:p>
          <a:p>
            <a:pPr marL="342900" indent="-342900">
              <a:buFont typeface="Calibri" panose="020B0604020202020204" pitchFamily="34" charset="0"/>
              <a:buChar char="-"/>
            </a:pPr>
            <a:r>
              <a:rPr lang="es-ES" dirty="0">
                <a:solidFill>
                  <a:schemeClr val="tx2"/>
                </a:solidFill>
                <a:latin typeface="Arial"/>
                <a:cs typeface="Arial"/>
              </a:rPr>
              <a:t>Simulación del ejemplo</a:t>
            </a:r>
          </a:p>
          <a:p>
            <a:pPr marL="342900" indent="-342900">
              <a:buFont typeface="Calibri" panose="020B0604020202020204" pitchFamily="34" charset="0"/>
              <a:buChar char="-"/>
            </a:pPr>
            <a:r>
              <a:rPr lang="es-ES" dirty="0">
                <a:solidFill>
                  <a:schemeClr val="tx2"/>
                </a:solidFill>
                <a:latin typeface="Arial"/>
                <a:cs typeface="Arial"/>
              </a:rPr>
              <a:t>Estados del contrato</a:t>
            </a:r>
          </a:p>
          <a:p>
            <a:pPr marL="342900" indent="-342900">
              <a:buFont typeface="Calibri" panose="020B0604020202020204" pitchFamily="34" charset="0"/>
              <a:buChar char="-"/>
            </a:pPr>
            <a:r>
              <a:rPr lang="es-ES" dirty="0">
                <a:solidFill>
                  <a:schemeClr val="tx2"/>
                </a:solidFill>
                <a:latin typeface="Arial"/>
                <a:cs typeface="Arial"/>
              </a:rPr>
              <a:t>Deposito con Garantía</a:t>
            </a:r>
          </a:p>
          <a:p>
            <a:pPr marL="342900" indent="-342900">
              <a:buFont typeface="Calibri" panose="020B0604020202020204" pitchFamily="34" charset="0"/>
              <a:buChar char="-"/>
            </a:pPr>
            <a:endParaRPr lang="es-ES" dirty="0">
              <a:solidFill>
                <a:srgbClr val="DADADA"/>
              </a:solidFill>
              <a:latin typeface="Arial"/>
              <a:cs typeface="Arial"/>
            </a:endParaRPr>
          </a:p>
          <a:p>
            <a:pPr marL="342900" indent="-342900">
              <a:buFont typeface="Calibri" panose="020B0604020202020204" pitchFamily="34" charset="0"/>
              <a:buChar char="-"/>
            </a:pPr>
            <a:endParaRPr lang="es-ES" dirty="0">
              <a:solidFill>
                <a:srgbClr val="DADADA"/>
              </a:solidFill>
              <a:latin typeface="Arial"/>
              <a:cs typeface="Arial"/>
            </a:endParaRPr>
          </a:p>
          <a:p>
            <a:pPr marL="342900" indent="-342900">
              <a:buFont typeface="Calibri" panose="020B0604020202020204" pitchFamily="34" charset="0"/>
              <a:buChar char="-"/>
            </a:pPr>
            <a:endParaRPr lang="es-ES" dirty="0">
              <a:solidFill>
                <a:srgbClr val="DADADA"/>
              </a:solidFill>
              <a:latin typeface="Arial"/>
              <a:cs typeface="Arial"/>
            </a:endParaRPr>
          </a:p>
          <a:p>
            <a:pPr marL="342900" indent="-342900">
              <a:buFont typeface="Calibri" panose="020B0604020202020204" pitchFamily="34" charset="0"/>
              <a:buChar char="-"/>
            </a:pPr>
            <a:endParaRPr lang="es-ES" dirty="0"/>
          </a:p>
        </p:txBody>
      </p:sp>
    </p:spTree>
    <p:extLst>
      <p:ext uri="{BB962C8B-B14F-4D97-AF65-F5344CB8AC3E}">
        <p14:creationId xmlns:p14="http://schemas.microsoft.com/office/powerpoint/2010/main" val="422397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5D4B6D-254D-5BE5-6E5F-F68576DC05B8}"/>
              </a:ext>
            </a:extLst>
          </p:cNvPr>
          <p:cNvSpPr>
            <a:spLocks noGrp="1"/>
          </p:cNvSpPr>
          <p:nvPr>
            <p:ph type="ctrTitle"/>
          </p:nvPr>
        </p:nvSpPr>
        <p:spPr>
          <a:xfrm>
            <a:off x="2523290" y="144000"/>
            <a:ext cx="8111706" cy="1135627"/>
          </a:xfrm>
        </p:spPr>
        <p:txBody>
          <a:bodyPr>
            <a:normAutofit/>
          </a:bodyPr>
          <a:lstStyle/>
          <a:p>
            <a:r>
              <a:rPr lang="es-ES" b="1" i="1" dirty="0">
                <a:solidFill>
                  <a:schemeClr val="tx2"/>
                </a:solidFill>
                <a:latin typeface="Arial"/>
                <a:cs typeface="Arial"/>
              </a:rPr>
              <a:t>¿Qué es </a:t>
            </a:r>
            <a:r>
              <a:rPr lang="es-ES" b="1" i="1" err="1">
                <a:solidFill>
                  <a:schemeClr val="tx2"/>
                </a:solidFill>
                <a:latin typeface="Arial"/>
                <a:cs typeface="Arial"/>
              </a:rPr>
              <a:t>cardano</a:t>
            </a:r>
            <a:r>
              <a:rPr lang="es-ES" b="1" i="1" dirty="0">
                <a:solidFill>
                  <a:schemeClr val="tx2"/>
                </a:solidFill>
                <a:latin typeface="Arial"/>
                <a:cs typeface="Arial"/>
              </a:rPr>
              <a:t>?</a:t>
            </a:r>
            <a:endParaRPr lang="es-ES" b="1" i="1">
              <a:solidFill>
                <a:schemeClr val="tx2"/>
              </a:solidFill>
              <a:latin typeface="Arial"/>
              <a:cs typeface="Arial"/>
            </a:endParaRPr>
          </a:p>
        </p:txBody>
      </p:sp>
      <p:sp>
        <p:nvSpPr>
          <p:cNvPr id="3" name="Subtítulo 2">
            <a:extLst>
              <a:ext uri="{FF2B5EF4-FFF2-40B4-BE49-F238E27FC236}">
                <a16:creationId xmlns:a16="http://schemas.microsoft.com/office/drawing/2014/main" id="{5DDB2271-13E8-4C75-085C-753CB801CAC1}"/>
              </a:ext>
            </a:extLst>
          </p:cNvPr>
          <p:cNvSpPr>
            <a:spLocks noGrp="1"/>
          </p:cNvSpPr>
          <p:nvPr>
            <p:ph type="subTitle" idx="1"/>
          </p:nvPr>
        </p:nvSpPr>
        <p:spPr>
          <a:xfrm>
            <a:off x="222914" y="1516798"/>
            <a:ext cx="6355307" cy="5030334"/>
          </a:xfrm>
        </p:spPr>
        <p:txBody>
          <a:bodyPr vert="horz" lIns="91440" tIns="45720" rIns="91440" bIns="45720" rtlCol="0" anchor="t">
            <a:normAutofit/>
          </a:bodyPr>
          <a:lstStyle/>
          <a:p>
            <a:r>
              <a:rPr lang="es-ES" dirty="0">
                <a:solidFill>
                  <a:schemeClr val="tx2"/>
                </a:solidFill>
                <a:latin typeface="Arial"/>
                <a:cs typeface="Arial"/>
              </a:rPr>
              <a:t>Cardano es una cadena de bloques de código abierto implementada en Haskell, así como una plataforma para ejecutar Smart </a:t>
            </a:r>
            <a:r>
              <a:rPr lang="es-ES" dirty="0" err="1">
                <a:solidFill>
                  <a:schemeClr val="tx2"/>
                </a:solidFill>
                <a:latin typeface="Arial"/>
                <a:cs typeface="Arial"/>
              </a:rPr>
              <a:t>Contracts</a:t>
            </a:r>
            <a:r>
              <a:rPr lang="es-ES" dirty="0">
                <a:solidFill>
                  <a:schemeClr val="tx2"/>
                </a:solidFill>
                <a:latin typeface="Arial"/>
                <a:cs typeface="Arial"/>
              </a:rPr>
              <a:t> y emitir su propia moneda digital (ADA). La plataforma lleva el nombre de </a:t>
            </a:r>
            <a:r>
              <a:rPr lang="es-ES" dirty="0" err="1">
                <a:solidFill>
                  <a:schemeClr val="tx2"/>
                </a:solidFill>
                <a:latin typeface="Arial"/>
                <a:cs typeface="Arial"/>
              </a:rPr>
              <a:t>Girolamo</a:t>
            </a:r>
            <a:r>
              <a:rPr lang="es-ES" dirty="0">
                <a:solidFill>
                  <a:schemeClr val="tx2"/>
                </a:solidFill>
                <a:latin typeface="Arial"/>
                <a:cs typeface="Arial"/>
              </a:rPr>
              <a:t> Cardano y la moneda el de Ada Lovelace.</a:t>
            </a:r>
          </a:p>
          <a:p>
            <a:r>
              <a:rPr lang="es-ES" dirty="0">
                <a:solidFill>
                  <a:schemeClr val="tx2"/>
                </a:solidFill>
                <a:latin typeface="Arial"/>
                <a:cs typeface="Arial"/>
              </a:rPr>
              <a:t>Fue fundada en 2015 y lanzada en 2017 por el cofundador de Ethereum y utiliza como mecanismo de consenso la prueba de participación (</a:t>
            </a:r>
            <a:r>
              <a:rPr lang="es-ES" err="1">
                <a:solidFill>
                  <a:schemeClr val="tx2"/>
                </a:solidFill>
                <a:latin typeface="Arial"/>
                <a:cs typeface="Arial"/>
              </a:rPr>
              <a:t>PoS</a:t>
            </a:r>
            <a:r>
              <a:rPr lang="es-ES" dirty="0">
                <a:solidFill>
                  <a:schemeClr val="tx2"/>
                </a:solidFill>
                <a:latin typeface="Arial"/>
                <a:cs typeface="Arial"/>
              </a:rPr>
              <a:t>), la cual se basa en validadores seleccionados al azar (</a:t>
            </a:r>
            <a:r>
              <a:rPr lang="es-ES" dirty="0">
                <a:solidFill>
                  <a:schemeClr val="tx2"/>
                </a:solidFill>
                <a:latin typeface="Arial"/>
                <a:ea typeface="+mn-lt"/>
                <a:cs typeface="Arial"/>
              </a:rPr>
              <a:t>en función de las monedas que se tenga) para crear nuevos bloques y verificar transacciones. Se considera en gran medida una versión más ecológica y con mayor escalabilidad que la </a:t>
            </a:r>
            <a:r>
              <a:rPr lang="es-ES" err="1">
                <a:solidFill>
                  <a:schemeClr val="tx2"/>
                </a:solidFill>
                <a:latin typeface="Arial"/>
                <a:ea typeface="+mn-lt"/>
                <a:cs typeface="Arial"/>
              </a:rPr>
              <a:t>PoW</a:t>
            </a:r>
            <a:r>
              <a:rPr lang="es-ES" dirty="0">
                <a:solidFill>
                  <a:schemeClr val="tx2"/>
                </a:solidFill>
                <a:latin typeface="Arial"/>
                <a:ea typeface="+mn-lt"/>
                <a:cs typeface="Arial"/>
              </a:rPr>
              <a:t> de Bitcoin.</a:t>
            </a:r>
          </a:p>
          <a:p>
            <a:r>
              <a:rPr lang="es-ES" dirty="0">
                <a:solidFill>
                  <a:schemeClr val="tx2"/>
                </a:solidFill>
                <a:latin typeface="Arial"/>
                <a:cs typeface="Arial"/>
              </a:rPr>
              <a:t>Cardano implementa un innovador modelo de Salidas de Transacción No Gastadas Extendidas (EUTXO) para admitir contratos inteligentes y activos múltiples. </a:t>
            </a:r>
          </a:p>
          <a:p>
            <a:endParaRPr lang="es-ES">
              <a:solidFill>
                <a:srgbClr val="FFFFFF"/>
              </a:solidFill>
              <a:latin typeface="Arial"/>
              <a:cs typeface="Arial"/>
            </a:endParaRPr>
          </a:p>
        </p:txBody>
      </p:sp>
      <p:pic>
        <p:nvPicPr>
          <p:cNvPr id="4" name="Imagen 3" descr="Interfaz de usuario gráfica, Aplicación&#10;&#10;Descripción generada automáticamente">
            <a:extLst>
              <a:ext uri="{FF2B5EF4-FFF2-40B4-BE49-F238E27FC236}">
                <a16:creationId xmlns:a16="http://schemas.microsoft.com/office/drawing/2014/main" id="{0059406F-EC5B-13B0-1B4A-910DC39CA044}"/>
              </a:ext>
            </a:extLst>
          </p:cNvPr>
          <p:cNvPicPr>
            <a:picLocks noChangeAspect="1"/>
          </p:cNvPicPr>
          <p:nvPr/>
        </p:nvPicPr>
        <p:blipFill>
          <a:blip r:embed="rId2"/>
          <a:stretch>
            <a:fillRect/>
          </a:stretch>
        </p:blipFill>
        <p:spPr>
          <a:xfrm>
            <a:off x="6693089" y="2291712"/>
            <a:ext cx="5493224" cy="3076383"/>
          </a:xfrm>
          <a:prstGeom prst="rect">
            <a:avLst/>
          </a:prstGeom>
        </p:spPr>
      </p:pic>
    </p:spTree>
    <p:extLst>
      <p:ext uri="{BB962C8B-B14F-4D97-AF65-F5344CB8AC3E}">
        <p14:creationId xmlns:p14="http://schemas.microsoft.com/office/powerpoint/2010/main" val="4073508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0BCC31-BD7F-4AA6-E70F-ACA2F59BC1BA}"/>
              </a:ext>
            </a:extLst>
          </p:cNvPr>
          <p:cNvSpPr>
            <a:spLocks noGrp="1"/>
          </p:cNvSpPr>
          <p:nvPr>
            <p:ph type="ctrTitle"/>
          </p:nvPr>
        </p:nvSpPr>
        <p:spPr>
          <a:xfrm>
            <a:off x="1181047" y="68252"/>
            <a:ext cx="11211635" cy="1154082"/>
          </a:xfrm>
        </p:spPr>
        <p:txBody>
          <a:bodyPr/>
          <a:lstStyle/>
          <a:p>
            <a:r>
              <a:rPr lang="es-ES" b="1" i="1" dirty="0">
                <a:solidFill>
                  <a:schemeClr val="tx2"/>
                </a:solidFill>
                <a:latin typeface="Arial"/>
                <a:cs typeface="Arial"/>
              </a:rPr>
              <a:t>¿Por qué en </a:t>
            </a:r>
            <a:r>
              <a:rPr lang="es-ES" b="1" i="1" err="1">
                <a:solidFill>
                  <a:schemeClr val="tx2"/>
                </a:solidFill>
                <a:latin typeface="Arial"/>
                <a:cs typeface="Arial"/>
              </a:rPr>
              <a:t>haskell</a:t>
            </a:r>
            <a:r>
              <a:rPr lang="es-ES" b="1" i="1" dirty="0">
                <a:solidFill>
                  <a:schemeClr val="tx2"/>
                </a:solidFill>
                <a:latin typeface="Arial"/>
                <a:cs typeface="Arial"/>
              </a:rPr>
              <a:t>?</a:t>
            </a:r>
          </a:p>
        </p:txBody>
      </p:sp>
      <p:sp>
        <p:nvSpPr>
          <p:cNvPr id="3" name="Subtítulo 2">
            <a:extLst>
              <a:ext uri="{FF2B5EF4-FFF2-40B4-BE49-F238E27FC236}">
                <a16:creationId xmlns:a16="http://schemas.microsoft.com/office/drawing/2014/main" id="{73025CCF-D408-18A9-E919-80DFDE26015C}"/>
              </a:ext>
            </a:extLst>
          </p:cNvPr>
          <p:cNvSpPr>
            <a:spLocks noGrp="1"/>
          </p:cNvSpPr>
          <p:nvPr>
            <p:ph type="subTitle" idx="1"/>
          </p:nvPr>
        </p:nvSpPr>
        <p:spPr>
          <a:xfrm>
            <a:off x="1062165" y="1807564"/>
            <a:ext cx="10408220" cy="4376919"/>
          </a:xfrm>
        </p:spPr>
        <p:txBody>
          <a:bodyPr vert="horz" lIns="91440" tIns="45720" rIns="91440" bIns="45720" rtlCol="0" anchor="t">
            <a:normAutofit/>
          </a:bodyPr>
          <a:lstStyle/>
          <a:p>
            <a:r>
              <a:rPr lang="es-ES" dirty="0">
                <a:solidFill>
                  <a:schemeClr val="tx2"/>
                </a:solidFill>
                <a:latin typeface="Arial"/>
                <a:cs typeface="Arial"/>
              </a:rPr>
              <a:t>Aunque Haskell no es uno de los lenguajes de programación más populares, su capacidad para escribir código robusto y verificable hace que sea ideal para aplicaciones que requieren un alto nivel de seguridad. </a:t>
            </a:r>
          </a:p>
          <a:p>
            <a:r>
              <a:rPr lang="es-ES" dirty="0">
                <a:solidFill>
                  <a:schemeClr val="tx2"/>
                </a:solidFill>
                <a:latin typeface="Arial"/>
                <a:cs typeface="Arial"/>
              </a:rPr>
              <a:t>Al ser un lenguaje funcional puro, permite a los desarrolladores separar los efectos secundarios de la lógica principal, facilitando el razonamiento sobre el código y mejorando la certeza de su corrección.</a:t>
            </a:r>
          </a:p>
          <a:p>
            <a:r>
              <a:rPr lang="es-ES" dirty="0">
                <a:solidFill>
                  <a:schemeClr val="tx2"/>
                </a:solidFill>
                <a:latin typeface="Arial"/>
                <a:cs typeface="Arial"/>
              </a:rPr>
              <a:t>También permite heredar el cuerpo de investigación y la comunidad existente en el ecosistema Haskell, evitando la necesidad de crear un lenguaje de Smart </a:t>
            </a:r>
            <a:r>
              <a:rPr lang="es-ES" err="1">
                <a:solidFill>
                  <a:schemeClr val="tx2"/>
                </a:solidFill>
                <a:latin typeface="Arial"/>
                <a:cs typeface="Arial"/>
              </a:rPr>
              <a:t>Contracts</a:t>
            </a:r>
            <a:r>
              <a:rPr lang="es-ES" dirty="0">
                <a:solidFill>
                  <a:schemeClr val="tx2"/>
                </a:solidFill>
                <a:latin typeface="Arial"/>
                <a:cs typeface="Arial"/>
              </a:rPr>
              <a:t> totalmente nuevo.</a:t>
            </a:r>
          </a:p>
          <a:p>
            <a:r>
              <a:rPr lang="es-ES" dirty="0">
                <a:solidFill>
                  <a:schemeClr val="tx2"/>
                </a:solidFill>
                <a:latin typeface="Arial"/>
                <a:cs typeface="Arial"/>
              </a:rPr>
              <a:t>Haskell es la base de </a:t>
            </a:r>
            <a:r>
              <a:rPr lang="es-ES" dirty="0" err="1">
                <a:solidFill>
                  <a:schemeClr val="tx2"/>
                </a:solidFill>
                <a:latin typeface="Arial"/>
                <a:cs typeface="Arial"/>
              </a:rPr>
              <a:t>Plutus</a:t>
            </a:r>
            <a:r>
              <a:rPr lang="es-ES" dirty="0">
                <a:solidFill>
                  <a:schemeClr val="tx2"/>
                </a:solidFill>
                <a:latin typeface="Arial"/>
                <a:cs typeface="Arial"/>
              </a:rPr>
              <a:t> y Marlowe, que son lenguajes de programación de Smart </a:t>
            </a:r>
            <a:r>
              <a:rPr lang="es-ES" dirty="0" err="1">
                <a:solidFill>
                  <a:schemeClr val="tx2"/>
                </a:solidFill>
                <a:latin typeface="Arial"/>
                <a:cs typeface="Arial"/>
              </a:rPr>
              <a:t>Contracts</a:t>
            </a:r>
            <a:r>
              <a:rPr lang="es-ES" dirty="0">
                <a:solidFill>
                  <a:schemeClr val="tx2"/>
                </a:solidFill>
                <a:latin typeface="Arial"/>
                <a:cs typeface="Arial"/>
              </a:rPr>
              <a:t> en Cardano, que se ofrecen como librerías para Haskell.</a:t>
            </a:r>
          </a:p>
        </p:txBody>
      </p:sp>
    </p:spTree>
    <p:extLst>
      <p:ext uri="{BB962C8B-B14F-4D97-AF65-F5344CB8AC3E}">
        <p14:creationId xmlns:p14="http://schemas.microsoft.com/office/powerpoint/2010/main" val="50672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7476EA-FE3B-9BD9-F22D-CE1B17F40AFA}"/>
              </a:ext>
            </a:extLst>
          </p:cNvPr>
          <p:cNvSpPr>
            <a:spLocks noGrp="1"/>
          </p:cNvSpPr>
          <p:nvPr>
            <p:ph type="title"/>
          </p:nvPr>
        </p:nvSpPr>
        <p:spPr>
          <a:xfrm>
            <a:off x="1881889" y="116962"/>
            <a:ext cx="7920487" cy="1293028"/>
          </a:xfrm>
        </p:spPr>
        <p:txBody>
          <a:bodyPr>
            <a:normAutofit fontScale="90000"/>
          </a:bodyPr>
          <a:lstStyle/>
          <a:p>
            <a:r>
              <a:rPr lang="es-ES" sz="6000" b="1" i="1" dirty="0">
                <a:solidFill>
                  <a:schemeClr val="tx2"/>
                </a:solidFill>
                <a:latin typeface="Arial"/>
                <a:cs typeface="Arial"/>
              </a:rPr>
              <a:t>¿Qué es </a:t>
            </a:r>
            <a:r>
              <a:rPr lang="es-ES" sz="6000" b="1" i="1" dirty="0" err="1">
                <a:solidFill>
                  <a:schemeClr val="tx2"/>
                </a:solidFill>
                <a:latin typeface="Arial"/>
                <a:cs typeface="Arial"/>
              </a:rPr>
              <a:t>marlowe</a:t>
            </a:r>
            <a:r>
              <a:rPr lang="es-ES" sz="6000" b="1" i="1" dirty="0">
                <a:solidFill>
                  <a:schemeClr val="tx2"/>
                </a:solidFill>
                <a:latin typeface="Arial"/>
                <a:cs typeface="Arial"/>
              </a:rPr>
              <a:t>?</a:t>
            </a:r>
          </a:p>
        </p:txBody>
      </p:sp>
      <p:sp>
        <p:nvSpPr>
          <p:cNvPr id="3" name="Marcador de contenido 2">
            <a:extLst>
              <a:ext uri="{FF2B5EF4-FFF2-40B4-BE49-F238E27FC236}">
                <a16:creationId xmlns:a16="http://schemas.microsoft.com/office/drawing/2014/main" id="{ECF2A554-06AC-8EAC-0677-A3F70D71FF4C}"/>
              </a:ext>
            </a:extLst>
          </p:cNvPr>
          <p:cNvSpPr>
            <a:spLocks noGrp="1"/>
          </p:cNvSpPr>
          <p:nvPr>
            <p:ph idx="1"/>
          </p:nvPr>
        </p:nvSpPr>
        <p:spPr>
          <a:xfrm>
            <a:off x="685800" y="1720107"/>
            <a:ext cx="10820400" cy="4024125"/>
          </a:xfrm>
        </p:spPr>
        <p:txBody>
          <a:bodyPr vert="horz" lIns="91440" tIns="45720" rIns="91440" bIns="45720" rtlCol="0" anchor="t">
            <a:normAutofit lnSpcReduction="10000"/>
          </a:bodyPr>
          <a:lstStyle/>
          <a:p>
            <a:pPr marL="0" indent="0">
              <a:buNone/>
            </a:pPr>
            <a:r>
              <a:rPr lang="es-ES" dirty="0">
                <a:solidFill>
                  <a:schemeClr val="tx2"/>
                </a:solidFill>
                <a:latin typeface="Arial"/>
                <a:cs typeface="Arial"/>
              </a:rPr>
              <a:t>Marlowe es un lenguaje específico de dominio (DSL) que engloba un conjunto de herramientas y lenguajes implementados sobre la </a:t>
            </a:r>
            <a:r>
              <a:rPr lang="es-ES" err="1">
                <a:solidFill>
                  <a:schemeClr val="tx2"/>
                </a:solidFill>
                <a:latin typeface="Arial"/>
                <a:cs typeface="Arial"/>
              </a:rPr>
              <a:t>blockchain</a:t>
            </a:r>
            <a:r>
              <a:rPr lang="es-ES" dirty="0">
                <a:solidFill>
                  <a:schemeClr val="tx2"/>
                </a:solidFill>
                <a:latin typeface="Arial"/>
                <a:cs typeface="Arial"/>
              </a:rPr>
              <a:t> Cardano. Esto permite el desarrollo de Smart </a:t>
            </a:r>
            <a:r>
              <a:rPr lang="es-ES" err="1">
                <a:solidFill>
                  <a:schemeClr val="tx2"/>
                </a:solidFill>
                <a:latin typeface="Arial"/>
                <a:cs typeface="Arial"/>
              </a:rPr>
              <a:t>Contracts</a:t>
            </a:r>
            <a:r>
              <a:rPr lang="es-ES" dirty="0">
                <a:solidFill>
                  <a:schemeClr val="tx2"/>
                </a:solidFill>
                <a:latin typeface="Arial"/>
                <a:cs typeface="Arial"/>
              </a:rPr>
              <a:t> financieros y transaccionales de manera más segura y directa.</a:t>
            </a:r>
          </a:p>
          <a:p>
            <a:pPr marL="0" indent="0">
              <a:buNone/>
            </a:pPr>
            <a:r>
              <a:rPr lang="es-ES" dirty="0">
                <a:solidFill>
                  <a:schemeClr val="tx2"/>
                </a:solidFill>
                <a:latin typeface="Arial"/>
                <a:cs typeface="Arial"/>
              </a:rPr>
              <a:t>Un Smart </a:t>
            </a:r>
            <a:r>
              <a:rPr lang="es-ES" err="1">
                <a:solidFill>
                  <a:schemeClr val="tx2"/>
                </a:solidFill>
                <a:latin typeface="Arial"/>
                <a:cs typeface="Arial"/>
              </a:rPr>
              <a:t>Contract</a:t>
            </a:r>
            <a:r>
              <a:rPr lang="es-ES" dirty="0">
                <a:solidFill>
                  <a:schemeClr val="tx2"/>
                </a:solidFill>
                <a:latin typeface="Arial"/>
                <a:cs typeface="Arial"/>
              </a:rPr>
              <a:t> en Marlowe se construye combinando una pequeña cantidad de bloques de construcción que describen cómo realizar un pago, realizar una observación del mundo real, esperar hasta que una determinada condición se haga realidad, y otros tipos de conceptos similares.</a:t>
            </a:r>
          </a:p>
          <a:p>
            <a:pPr marL="0" indent="0">
              <a:buNone/>
            </a:pPr>
            <a:r>
              <a:rPr lang="es-ES" dirty="0">
                <a:solidFill>
                  <a:schemeClr val="tx2"/>
                </a:solidFill>
                <a:latin typeface="Arial"/>
                <a:cs typeface="Arial"/>
              </a:rPr>
              <a:t>Los participantes del contrato pueden participar en varias acciones: Se les puede pedir un depósito o tomar una decisión, entre otras alternativas.</a:t>
            </a:r>
          </a:p>
          <a:p>
            <a:pPr marL="0" indent="0">
              <a:buNone/>
            </a:pPr>
            <a:r>
              <a:rPr lang="es-ES" dirty="0">
                <a:solidFill>
                  <a:schemeClr val="tx2"/>
                </a:solidFill>
                <a:latin typeface="Arial"/>
                <a:cs typeface="Arial"/>
              </a:rPr>
              <a:t>La ejecución de un contrato también puede producir efectos externos al hacer pagos a los participantes en el contrato.</a:t>
            </a:r>
          </a:p>
        </p:txBody>
      </p:sp>
    </p:spTree>
    <p:extLst>
      <p:ext uri="{BB962C8B-B14F-4D97-AF65-F5344CB8AC3E}">
        <p14:creationId xmlns:p14="http://schemas.microsoft.com/office/powerpoint/2010/main" val="2900929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5C8AB2-FE88-CA4E-06AC-40B51B25C84E}"/>
              </a:ext>
            </a:extLst>
          </p:cNvPr>
          <p:cNvSpPr>
            <a:spLocks noGrp="1"/>
          </p:cNvSpPr>
          <p:nvPr>
            <p:ph type="title"/>
          </p:nvPr>
        </p:nvSpPr>
        <p:spPr>
          <a:xfrm>
            <a:off x="683418" y="144859"/>
            <a:ext cx="11160113" cy="1656968"/>
          </a:xfrm>
        </p:spPr>
        <p:txBody>
          <a:bodyPr vert="horz" lIns="91440" tIns="45720" rIns="91440" bIns="45720" rtlCol="0" anchor="ctr">
            <a:noAutofit/>
          </a:bodyPr>
          <a:lstStyle/>
          <a:p>
            <a:pPr algn="ctr"/>
            <a:r>
              <a:rPr lang="es-ES" sz="6000" b="1" dirty="0">
                <a:solidFill>
                  <a:schemeClr val="tx2"/>
                </a:solidFill>
                <a:latin typeface="Arial"/>
                <a:cs typeface="Arial"/>
              </a:rPr>
              <a:t>Participantes, roles y claves </a:t>
            </a:r>
            <a:r>
              <a:rPr lang="es-ES" sz="6000" b="1" err="1">
                <a:solidFill>
                  <a:schemeClr val="tx2"/>
                </a:solidFill>
                <a:latin typeface="Arial"/>
                <a:cs typeface="Arial"/>
              </a:rPr>
              <a:t>pÚblicas</a:t>
            </a:r>
            <a:endParaRPr lang="es-ES" sz="6000" b="1">
              <a:solidFill>
                <a:schemeClr val="tx2"/>
              </a:solidFill>
              <a:latin typeface="Arial"/>
              <a:cs typeface="Arial"/>
            </a:endParaRPr>
          </a:p>
        </p:txBody>
      </p:sp>
      <p:sp>
        <p:nvSpPr>
          <p:cNvPr id="3" name="Marcador de contenido 2">
            <a:extLst>
              <a:ext uri="{FF2B5EF4-FFF2-40B4-BE49-F238E27FC236}">
                <a16:creationId xmlns:a16="http://schemas.microsoft.com/office/drawing/2014/main" id="{6807C742-9CAD-513B-C35C-0F5A6D96047C}"/>
              </a:ext>
            </a:extLst>
          </p:cNvPr>
          <p:cNvSpPr>
            <a:spLocks noGrp="1"/>
          </p:cNvSpPr>
          <p:nvPr>
            <p:ph idx="1"/>
          </p:nvPr>
        </p:nvSpPr>
        <p:spPr/>
        <p:txBody>
          <a:bodyPr vert="horz" lIns="91440" tIns="45720" rIns="91440" bIns="45720" rtlCol="0" anchor="t">
            <a:normAutofit/>
          </a:bodyPr>
          <a:lstStyle/>
          <a:p>
            <a:r>
              <a:rPr lang="es-ES" dirty="0">
                <a:solidFill>
                  <a:schemeClr val="tx2"/>
                </a:solidFill>
              </a:rPr>
              <a:t>Participante (</a:t>
            </a:r>
            <a:r>
              <a:rPr lang="es-ES" dirty="0" err="1">
                <a:solidFill>
                  <a:schemeClr val="tx2"/>
                </a:solidFill>
              </a:rPr>
              <a:t>Party</a:t>
            </a:r>
            <a:r>
              <a:rPr lang="es-ES" dirty="0">
                <a:solidFill>
                  <a:schemeClr val="tx2"/>
                </a:solidFill>
              </a:rPr>
              <a:t>) -&gt; Puede representarse mediante un Rol o una clave pública (eventualmente será reemplazada por direcciones)</a:t>
            </a:r>
          </a:p>
          <a:p>
            <a:r>
              <a:rPr lang="es-ES" dirty="0">
                <a:solidFill>
                  <a:schemeClr val="tx2"/>
                </a:solidFill>
              </a:rPr>
              <a:t>Rol (Role) -&gt; Son representados por tokens y se distribuyen a las direcciones al implementar un Smart </a:t>
            </a:r>
            <a:r>
              <a:rPr lang="es-ES" dirty="0" err="1">
                <a:solidFill>
                  <a:schemeClr val="tx2"/>
                </a:solidFill>
              </a:rPr>
              <a:t>Contract</a:t>
            </a:r>
            <a:r>
              <a:rPr lang="es-ES" dirty="0">
                <a:solidFill>
                  <a:schemeClr val="tx2"/>
                </a:solidFill>
              </a:rPr>
              <a:t> en la cadena de bloques. Así, quien tiene el token que representa un rol, es capaz de realizar acciones asignadas a ese rol, y recibir los pagos que se emitan a ese rol, permitiendo que los roles sean intercambiados entre participantes.</a:t>
            </a:r>
          </a:p>
          <a:p>
            <a:r>
              <a:rPr lang="es-ES" dirty="0">
                <a:solidFill>
                  <a:schemeClr val="tx2"/>
                </a:solidFill>
              </a:rPr>
              <a:t>Las claves públicas están representadas por el hash de una clave pública. Usar claves públicas para representar a los participantes es más simple porque no requieren manejo de tokens, pero no se pueden intercambiar.</a:t>
            </a:r>
          </a:p>
        </p:txBody>
      </p:sp>
    </p:spTree>
    <p:extLst>
      <p:ext uri="{BB962C8B-B14F-4D97-AF65-F5344CB8AC3E}">
        <p14:creationId xmlns:p14="http://schemas.microsoft.com/office/powerpoint/2010/main" val="2502720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0DFA9B-4C21-9BDC-8C1F-6F08BBDE7FD5}"/>
              </a:ext>
            </a:extLst>
          </p:cNvPr>
          <p:cNvSpPr>
            <a:spLocks noGrp="1"/>
          </p:cNvSpPr>
          <p:nvPr>
            <p:ph type="title"/>
          </p:nvPr>
        </p:nvSpPr>
        <p:spPr>
          <a:xfrm>
            <a:off x="1084696" y="-4494"/>
            <a:ext cx="10494033" cy="1293028"/>
          </a:xfrm>
        </p:spPr>
        <p:txBody>
          <a:bodyPr vert="horz" lIns="91440" tIns="45720" rIns="91440" bIns="45720" rtlCol="0" anchor="ctr">
            <a:noAutofit/>
          </a:bodyPr>
          <a:lstStyle/>
          <a:p>
            <a:r>
              <a:rPr lang="es-ES" sz="6000" b="1" i="1" dirty="0">
                <a:solidFill>
                  <a:schemeClr val="tx2"/>
                </a:solidFill>
                <a:latin typeface="Arial"/>
                <a:cs typeface="Arial"/>
              </a:rPr>
              <a:t>Contratos de </a:t>
            </a:r>
            <a:r>
              <a:rPr lang="es-ES" sz="6000" b="1" i="1" dirty="0" err="1">
                <a:solidFill>
                  <a:schemeClr val="tx2"/>
                </a:solidFill>
                <a:latin typeface="Arial"/>
                <a:cs typeface="Arial"/>
              </a:rPr>
              <a:t>marlowe</a:t>
            </a:r>
            <a:endParaRPr lang="es-ES" sz="6000" b="1" i="1" dirty="0">
              <a:solidFill>
                <a:schemeClr val="tx2"/>
              </a:solidFill>
              <a:latin typeface="Arial"/>
              <a:cs typeface="Arial"/>
            </a:endParaRPr>
          </a:p>
        </p:txBody>
      </p:sp>
      <p:sp>
        <p:nvSpPr>
          <p:cNvPr id="3" name="Marcador de contenido 2">
            <a:extLst>
              <a:ext uri="{FF2B5EF4-FFF2-40B4-BE49-F238E27FC236}">
                <a16:creationId xmlns:a16="http://schemas.microsoft.com/office/drawing/2014/main" id="{BEE7C6F6-1FC9-9B7B-30C3-C6C705ABD62A}"/>
              </a:ext>
            </a:extLst>
          </p:cNvPr>
          <p:cNvSpPr>
            <a:spLocks noGrp="1"/>
          </p:cNvSpPr>
          <p:nvPr>
            <p:ph idx="1"/>
          </p:nvPr>
        </p:nvSpPr>
        <p:spPr>
          <a:xfrm>
            <a:off x="81951" y="1147802"/>
            <a:ext cx="12114362" cy="4714238"/>
          </a:xfrm>
        </p:spPr>
        <p:txBody>
          <a:bodyPr vert="horz" lIns="91440" tIns="45720" rIns="91440" bIns="45720" rtlCol="0" anchor="t">
            <a:normAutofit/>
          </a:bodyPr>
          <a:lstStyle/>
          <a:p>
            <a:pPr marL="0" indent="0">
              <a:buNone/>
            </a:pPr>
            <a:r>
              <a:rPr lang="es-ES" dirty="0">
                <a:solidFill>
                  <a:schemeClr val="tx2"/>
                </a:solidFill>
                <a:latin typeface="Arial"/>
                <a:cs typeface="Arial"/>
              </a:rPr>
              <a:t>Los contratos en Marlowe describen una serie de pasos, normalmente describiendo un primer paso junto a otro subcontrato que describa qué hacer a continuación. Tiene seis formas de construir contratos: </a:t>
            </a:r>
            <a:r>
              <a:rPr lang="es-ES" dirty="0" err="1">
                <a:solidFill>
                  <a:schemeClr val="tx2"/>
                </a:solidFill>
                <a:latin typeface="Arial"/>
                <a:cs typeface="Arial"/>
              </a:rPr>
              <a:t>Pay</a:t>
            </a:r>
            <a:r>
              <a:rPr lang="es-ES" dirty="0">
                <a:solidFill>
                  <a:schemeClr val="tx2"/>
                </a:solidFill>
                <a:latin typeface="Arial"/>
                <a:cs typeface="Arial"/>
              </a:rPr>
              <a:t>, </a:t>
            </a:r>
            <a:r>
              <a:rPr lang="es-ES" dirty="0" err="1">
                <a:solidFill>
                  <a:schemeClr val="tx2"/>
                </a:solidFill>
                <a:latin typeface="Arial"/>
                <a:cs typeface="Arial"/>
              </a:rPr>
              <a:t>Let</a:t>
            </a:r>
            <a:r>
              <a:rPr lang="es-ES" dirty="0">
                <a:solidFill>
                  <a:schemeClr val="tx2"/>
                </a:solidFill>
                <a:latin typeface="Arial"/>
                <a:cs typeface="Arial"/>
              </a:rPr>
              <a:t>, </a:t>
            </a:r>
            <a:r>
              <a:rPr lang="es-ES" dirty="0" err="1">
                <a:solidFill>
                  <a:schemeClr val="tx2"/>
                </a:solidFill>
                <a:latin typeface="Arial"/>
                <a:cs typeface="Arial"/>
              </a:rPr>
              <a:t>If</a:t>
            </a:r>
            <a:r>
              <a:rPr lang="es-ES" dirty="0">
                <a:solidFill>
                  <a:schemeClr val="tx2"/>
                </a:solidFill>
                <a:latin typeface="Arial"/>
                <a:cs typeface="Arial"/>
              </a:rPr>
              <a:t>, </a:t>
            </a:r>
            <a:r>
              <a:rPr lang="es-ES" dirty="0" err="1">
                <a:solidFill>
                  <a:schemeClr val="tx2"/>
                </a:solidFill>
                <a:latin typeface="Arial"/>
                <a:cs typeface="Arial"/>
              </a:rPr>
              <a:t>When</a:t>
            </a:r>
            <a:r>
              <a:rPr lang="es-ES" dirty="0">
                <a:solidFill>
                  <a:schemeClr val="tx2"/>
                </a:solidFill>
                <a:latin typeface="Arial"/>
                <a:cs typeface="Arial"/>
              </a:rPr>
              <a:t>, </a:t>
            </a:r>
            <a:r>
              <a:rPr lang="es-ES" dirty="0" err="1">
                <a:solidFill>
                  <a:schemeClr val="tx2"/>
                </a:solidFill>
                <a:latin typeface="Arial"/>
                <a:cs typeface="Arial"/>
              </a:rPr>
              <a:t>Assert</a:t>
            </a:r>
            <a:r>
              <a:rPr lang="es-ES" dirty="0">
                <a:solidFill>
                  <a:schemeClr val="tx2"/>
                </a:solidFill>
                <a:latin typeface="Arial"/>
                <a:cs typeface="Arial"/>
              </a:rPr>
              <a:t> (contratos complejos) y </a:t>
            </a:r>
            <a:r>
              <a:rPr lang="es-ES" dirty="0" err="1">
                <a:solidFill>
                  <a:schemeClr val="tx2"/>
                </a:solidFill>
                <a:latin typeface="Arial"/>
                <a:cs typeface="Arial"/>
              </a:rPr>
              <a:t>Close</a:t>
            </a:r>
            <a:r>
              <a:rPr lang="es-ES" dirty="0">
                <a:solidFill>
                  <a:schemeClr val="tx2"/>
                </a:solidFill>
                <a:latin typeface="Arial"/>
                <a:cs typeface="Arial"/>
              </a:rPr>
              <a:t> (contrato simple). Por ejemplo, el contrato: </a:t>
            </a:r>
          </a:p>
          <a:p>
            <a:pPr marL="0" indent="0">
              <a:buNone/>
            </a:pPr>
            <a:r>
              <a:rPr lang="es-ES" err="1">
                <a:solidFill>
                  <a:schemeClr val="tx2"/>
                </a:solidFill>
                <a:latin typeface="Arial"/>
                <a:cs typeface="Arial"/>
              </a:rPr>
              <a:t>Pay</a:t>
            </a:r>
            <a:r>
              <a:rPr lang="es-ES" dirty="0">
                <a:solidFill>
                  <a:schemeClr val="tx2"/>
                </a:solidFill>
                <a:latin typeface="Arial"/>
                <a:cs typeface="Arial"/>
              </a:rPr>
              <a:t> c p t v </a:t>
            </a:r>
            <a:r>
              <a:rPr lang="es-ES" err="1">
                <a:solidFill>
                  <a:schemeClr val="tx2"/>
                </a:solidFill>
                <a:latin typeface="Arial"/>
                <a:cs typeface="Arial"/>
              </a:rPr>
              <a:t>cont</a:t>
            </a:r>
            <a:endParaRPr lang="es-ES" dirty="0">
              <a:solidFill>
                <a:schemeClr val="tx2"/>
              </a:solidFill>
              <a:latin typeface="Arial"/>
              <a:cs typeface="Arial"/>
            </a:endParaRPr>
          </a:p>
          <a:p>
            <a:pPr marL="0" indent="0">
              <a:buNone/>
            </a:pPr>
            <a:r>
              <a:rPr lang="es-ES" dirty="0">
                <a:solidFill>
                  <a:schemeClr val="tx2"/>
                </a:solidFill>
                <a:latin typeface="Arial"/>
                <a:cs typeface="Arial"/>
              </a:rPr>
              <a:t>Puede leerse como: Realizar un pago de valor v del token t al participante p con la cuenta c, y luego sigue el contrato cont.</a:t>
            </a:r>
          </a:p>
          <a:p>
            <a:pPr marL="0" indent="0">
              <a:buNone/>
            </a:pPr>
            <a:r>
              <a:rPr lang="es-ES" dirty="0">
                <a:solidFill>
                  <a:schemeClr val="tx2"/>
                </a:solidFill>
                <a:latin typeface="Arial"/>
                <a:cs typeface="Arial"/>
              </a:rPr>
              <a:t>Ejecutar un contrato en Cardano significa restringir transacciones generadas por el usuario de acuerdo a la lógica del contrato. Durante la ejecución, se pueden generar pagos y advertencias, además de devolver un nuevo estado y un contrato de continuación.</a:t>
            </a:r>
          </a:p>
        </p:txBody>
      </p:sp>
      <p:pic>
        <p:nvPicPr>
          <p:cNvPr id="4" name="Imagen 3" descr="Imagen que contiene texto, señal, reloj&#10;&#10;Descripción generada automáticamente">
            <a:extLst>
              <a:ext uri="{FF2B5EF4-FFF2-40B4-BE49-F238E27FC236}">
                <a16:creationId xmlns:a16="http://schemas.microsoft.com/office/drawing/2014/main" id="{C8FEDDE1-69AD-AC26-FA77-86132D63A37B}"/>
              </a:ext>
            </a:extLst>
          </p:cNvPr>
          <p:cNvPicPr>
            <a:picLocks noChangeAspect="1"/>
          </p:cNvPicPr>
          <p:nvPr/>
        </p:nvPicPr>
        <p:blipFill>
          <a:blip r:embed="rId2"/>
          <a:stretch>
            <a:fillRect/>
          </a:stretch>
        </p:blipFill>
        <p:spPr>
          <a:xfrm>
            <a:off x="4008881" y="4563231"/>
            <a:ext cx="5064265" cy="2290489"/>
          </a:xfrm>
          <a:prstGeom prst="rect">
            <a:avLst/>
          </a:prstGeom>
        </p:spPr>
      </p:pic>
    </p:spTree>
    <p:extLst>
      <p:ext uri="{BB962C8B-B14F-4D97-AF65-F5344CB8AC3E}">
        <p14:creationId xmlns:p14="http://schemas.microsoft.com/office/powerpoint/2010/main" val="3208582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7F09E0-248D-4237-67B4-2F836CB8B890}"/>
              </a:ext>
            </a:extLst>
          </p:cNvPr>
          <p:cNvSpPr>
            <a:spLocks noGrp="1"/>
          </p:cNvSpPr>
          <p:nvPr>
            <p:ph type="ctrTitle"/>
          </p:nvPr>
        </p:nvSpPr>
        <p:spPr>
          <a:xfrm>
            <a:off x="1933390" y="-152989"/>
            <a:ext cx="9046234" cy="1192493"/>
          </a:xfrm>
        </p:spPr>
        <p:txBody>
          <a:bodyPr/>
          <a:lstStyle/>
          <a:p>
            <a:r>
              <a:rPr lang="es-ES" b="1" i="1" dirty="0">
                <a:solidFill>
                  <a:schemeClr val="tx2"/>
                </a:solidFill>
                <a:latin typeface="Arial"/>
                <a:cs typeface="Arial"/>
              </a:rPr>
              <a:t>Tipos de contratos</a:t>
            </a:r>
          </a:p>
        </p:txBody>
      </p:sp>
      <p:sp>
        <p:nvSpPr>
          <p:cNvPr id="3" name="Subtítulo 2">
            <a:extLst>
              <a:ext uri="{FF2B5EF4-FFF2-40B4-BE49-F238E27FC236}">
                <a16:creationId xmlns:a16="http://schemas.microsoft.com/office/drawing/2014/main" id="{15C4FA88-AC84-527B-D97A-449939642AE0}"/>
              </a:ext>
            </a:extLst>
          </p:cNvPr>
          <p:cNvSpPr>
            <a:spLocks noGrp="1"/>
          </p:cNvSpPr>
          <p:nvPr>
            <p:ph type="subTitle" idx="1"/>
          </p:nvPr>
        </p:nvSpPr>
        <p:spPr>
          <a:xfrm>
            <a:off x="132357" y="977969"/>
            <a:ext cx="11723426" cy="5257799"/>
          </a:xfrm>
        </p:spPr>
        <p:txBody>
          <a:bodyPr vert="horz" lIns="91440" tIns="45720" rIns="91440" bIns="45720" rtlCol="0" anchor="t">
            <a:normAutofit/>
          </a:bodyPr>
          <a:lstStyle/>
          <a:p>
            <a:pPr marL="342900" indent="-342900">
              <a:buFont typeface="Calibri" panose="020B0604020202020204" pitchFamily="34" charset="0"/>
              <a:buChar char="-"/>
            </a:pPr>
            <a:r>
              <a:rPr lang="es-ES" dirty="0" err="1">
                <a:solidFill>
                  <a:schemeClr val="tx2"/>
                </a:solidFill>
                <a:latin typeface="Arial"/>
                <a:cs typeface="Arial"/>
              </a:rPr>
              <a:t>Pay</a:t>
            </a:r>
            <a:r>
              <a:rPr lang="es-ES" dirty="0">
                <a:solidFill>
                  <a:schemeClr val="tx2"/>
                </a:solidFill>
                <a:latin typeface="Arial"/>
                <a:cs typeface="Arial"/>
              </a:rPr>
              <a:t>: Contrato que realiza un pago de un valor específico de un token a un destinatario desde una cuenta. Genera advertencias si el valor es negativo o si no hay suficiente saldo en la cuenta para realizar el pago completo.</a:t>
            </a:r>
          </a:p>
          <a:p>
            <a:pPr marL="342900" indent="-342900">
              <a:buFont typeface="Calibri" panose="020B0604020202020204" pitchFamily="34" charset="0"/>
              <a:buChar char="-"/>
            </a:pPr>
            <a:r>
              <a:rPr lang="es-ES" err="1">
                <a:solidFill>
                  <a:schemeClr val="tx2"/>
                </a:solidFill>
                <a:latin typeface="Arial"/>
                <a:cs typeface="Arial"/>
              </a:rPr>
              <a:t>Close</a:t>
            </a:r>
            <a:r>
              <a:rPr lang="es-ES" dirty="0">
                <a:solidFill>
                  <a:schemeClr val="tx2"/>
                </a:solidFill>
                <a:latin typeface="Arial"/>
                <a:cs typeface="Arial"/>
              </a:rPr>
              <a:t>: Contrato para finalizar el contrato, proporcionando reembolso a los propietarios de cuentas con saldos positivos.</a:t>
            </a:r>
          </a:p>
          <a:p>
            <a:pPr marL="342900" indent="-342900">
              <a:buFont typeface="Calibri" panose="020B0604020202020204" pitchFamily="34" charset="0"/>
              <a:buChar char="-"/>
            </a:pPr>
            <a:r>
              <a:rPr lang="es-ES" dirty="0" err="1">
                <a:solidFill>
                  <a:schemeClr val="tx2"/>
                </a:solidFill>
                <a:latin typeface="Arial"/>
                <a:cs typeface="Arial"/>
              </a:rPr>
              <a:t>If</a:t>
            </a:r>
            <a:r>
              <a:rPr lang="es-ES" dirty="0">
                <a:solidFill>
                  <a:schemeClr val="tx2"/>
                </a:solidFill>
                <a:latin typeface="Arial"/>
                <a:cs typeface="Arial"/>
              </a:rPr>
              <a:t>: Contrato condicional que continúa según el valor booleano de una observación.</a:t>
            </a:r>
          </a:p>
          <a:p>
            <a:pPr marL="342900" indent="-342900">
              <a:buFont typeface="Calibri" panose="020B0604020202020204" pitchFamily="34" charset="0"/>
              <a:buChar char="-"/>
            </a:pPr>
            <a:r>
              <a:rPr lang="es-ES" err="1">
                <a:solidFill>
                  <a:schemeClr val="tx2"/>
                </a:solidFill>
                <a:latin typeface="Arial"/>
                <a:cs typeface="Arial"/>
              </a:rPr>
              <a:t>When</a:t>
            </a:r>
            <a:r>
              <a:rPr lang="es-ES" dirty="0">
                <a:solidFill>
                  <a:schemeClr val="tx2"/>
                </a:solidFill>
                <a:latin typeface="Arial"/>
                <a:cs typeface="Arial"/>
              </a:rPr>
              <a:t>: Contrato complejo que se activa con acciones y se describe mediante casos. Éste continuará según el caso correspondiente y también incluye un límite de tiempo.</a:t>
            </a:r>
          </a:p>
          <a:p>
            <a:pPr marL="342900" indent="-342900">
              <a:buFont typeface="Calibri" panose="020B0604020202020204" pitchFamily="34" charset="0"/>
              <a:buChar char="-"/>
            </a:pPr>
            <a:r>
              <a:rPr lang="es-ES" err="1">
                <a:solidFill>
                  <a:schemeClr val="tx2"/>
                </a:solidFill>
                <a:latin typeface="Arial"/>
                <a:cs typeface="Arial"/>
              </a:rPr>
              <a:t>Let</a:t>
            </a:r>
            <a:r>
              <a:rPr lang="es-ES" dirty="0">
                <a:solidFill>
                  <a:schemeClr val="tx2"/>
                </a:solidFill>
                <a:latin typeface="Arial"/>
                <a:cs typeface="Arial"/>
              </a:rPr>
              <a:t>: Permite a un contrato nombrar un valor con un identificador, capturando y guardando valores cambiantes en el tiempo.</a:t>
            </a:r>
          </a:p>
          <a:p>
            <a:pPr marL="342900" indent="-342900">
              <a:buFont typeface="Calibri" panose="020B0604020202020204" pitchFamily="34" charset="0"/>
              <a:buChar char="-"/>
            </a:pPr>
            <a:r>
              <a:rPr lang="es-ES" dirty="0" err="1">
                <a:solidFill>
                  <a:schemeClr val="tx2"/>
                </a:solidFill>
                <a:latin typeface="Arial"/>
                <a:cs typeface="Arial"/>
              </a:rPr>
              <a:t>Assert</a:t>
            </a:r>
            <a:r>
              <a:rPr lang="es-ES" dirty="0">
                <a:solidFill>
                  <a:schemeClr val="tx2"/>
                </a:solidFill>
                <a:latin typeface="Arial"/>
                <a:cs typeface="Arial"/>
              </a:rPr>
              <a:t>: No afecta al estado del contrato, pero emite una advertencia si una observación es falsa. Se utiliza para garantizar que una propiedad se cumple en cualquier punto del contrato.</a:t>
            </a:r>
          </a:p>
        </p:txBody>
      </p:sp>
      <p:pic>
        <p:nvPicPr>
          <p:cNvPr id="4" name="Imagen 3" descr="Texto, Carta&#10;&#10;Descripción generada automáticamente">
            <a:extLst>
              <a:ext uri="{FF2B5EF4-FFF2-40B4-BE49-F238E27FC236}">
                <a16:creationId xmlns:a16="http://schemas.microsoft.com/office/drawing/2014/main" id="{DAB0EABF-41BE-0BFB-B9F1-880CBAEA7041}"/>
              </a:ext>
            </a:extLst>
          </p:cNvPr>
          <p:cNvPicPr>
            <a:picLocks noChangeAspect="1"/>
          </p:cNvPicPr>
          <p:nvPr/>
        </p:nvPicPr>
        <p:blipFill>
          <a:blip r:embed="rId2"/>
          <a:stretch>
            <a:fillRect/>
          </a:stretch>
        </p:blipFill>
        <p:spPr>
          <a:xfrm>
            <a:off x="3045157" y="4984348"/>
            <a:ext cx="6096000" cy="1876425"/>
          </a:xfrm>
          <a:prstGeom prst="rect">
            <a:avLst/>
          </a:prstGeom>
        </p:spPr>
      </p:pic>
    </p:spTree>
    <p:extLst>
      <p:ext uri="{BB962C8B-B14F-4D97-AF65-F5344CB8AC3E}">
        <p14:creationId xmlns:p14="http://schemas.microsoft.com/office/powerpoint/2010/main" val="4156557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B099BF-BD8C-2D76-8B3D-B3D16C322EFC}"/>
              </a:ext>
            </a:extLst>
          </p:cNvPr>
          <p:cNvSpPr>
            <a:spLocks noGrp="1"/>
          </p:cNvSpPr>
          <p:nvPr>
            <p:ph type="title"/>
          </p:nvPr>
        </p:nvSpPr>
        <p:spPr>
          <a:xfrm>
            <a:off x="609600" y="275543"/>
            <a:ext cx="8610600" cy="1293028"/>
          </a:xfrm>
        </p:spPr>
        <p:txBody>
          <a:bodyPr>
            <a:normAutofit/>
          </a:bodyPr>
          <a:lstStyle/>
          <a:p>
            <a:r>
              <a:rPr lang="es-ES" sz="6000" b="1" err="1">
                <a:solidFill>
                  <a:schemeClr val="tx2"/>
                </a:solidFill>
                <a:latin typeface="Arial"/>
                <a:cs typeface="Arial"/>
              </a:rPr>
              <a:t>Playground</a:t>
            </a:r>
            <a:endParaRPr lang="es-ES" sz="6000" b="1">
              <a:solidFill>
                <a:schemeClr val="tx2"/>
              </a:solidFill>
              <a:latin typeface="Arial"/>
              <a:cs typeface="Arial"/>
            </a:endParaRPr>
          </a:p>
        </p:txBody>
      </p:sp>
      <p:pic>
        <p:nvPicPr>
          <p:cNvPr id="4" name="Marcador de contenido 3" descr="Interfaz de usuario gráfica, Aplicación&#10;&#10;Descripción generada automáticamente">
            <a:extLst>
              <a:ext uri="{FF2B5EF4-FFF2-40B4-BE49-F238E27FC236}">
                <a16:creationId xmlns:a16="http://schemas.microsoft.com/office/drawing/2014/main" id="{00A35C15-7793-3557-A4AA-2672F66109F0}"/>
              </a:ext>
            </a:extLst>
          </p:cNvPr>
          <p:cNvPicPr>
            <a:picLocks noGrp="1" noChangeAspect="1"/>
          </p:cNvPicPr>
          <p:nvPr>
            <p:ph idx="1"/>
          </p:nvPr>
        </p:nvPicPr>
        <p:blipFill>
          <a:blip r:embed="rId2"/>
          <a:stretch>
            <a:fillRect/>
          </a:stretch>
        </p:blipFill>
        <p:spPr>
          <a:xfrm>
            <a:off x="0" y="2695266"/>
            <a:ext cx="6096000" cy="3166486"/>
          </a:xfrm>
        </p:spPr>
      </p:pic>
      <p:pic>
        <p:nvPicPr>
          <p:cNvPr id="5" name="Imagen 4" descr="Interfaz de usuario gráfica, Aplicación&#10;&#10;Descripción generada automáticamente">
            <a:extLst>
              <a:ext uri="{FF2B5EF4-FFF2-40B4-BE49-F238E27FC236}">
                <a16:creationId xmlns:a16="http://schemas.microsoft.com/office/drawing/2014/main" id="{9B150076-A66C-2F5F-80C8-897C522FDC6F}"/>
              </a:ext>
            </a:extLst>
          </p:cNvPr>
          <p:cNvPicPr>
            <a:picLocks noChangeAspect="1"/>
          </p:cNvPicPr>
          <p:nvPr/>
        </p:nvPicPr>
        <p:blipFill>
          <a:blip r:embed="rId3"/>
          <a:stretch>
            <a:fillRect/>
          </a:stretch>
        </p:blipFill>
        <p:spPr>
          <a:xfrm>
            <a:off x="6099748" y="2157497"/>
            <a:ext cx="5992331" cy="4114800"/>
          </a:xfrm>
          <a:prstGeom prst="rect">
            <a:avLst/>
          </a:prstGeom>
        </p:spPr>
      </p:pic>
    </p:spTree>
    <p:extLst>
      <p:ext uri="{BB962C8B-B14F-4D97-AF65-F5344CB8AC3E}">
        <p14:creationId xmlns:p14="http://schemas.microsoft.com/office/powerpoint/2010/main" val="1842033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2653CE-5AAC-54F3-3E21-17650DC0063C}"/>
              </a:ext>
            </a:extLst>
          </p:cNvPr>
          <p:cNvSpPr>
            <a:spLocks noGrp="1"/>
          </p:cNvSpPr>
          <p:nvPr>
            <p:ph type="title"/>
          </p:nvPr>
        </p:nvSpPr>
        <p:spPr>
          <a:xfrm>
            <a:off x="-71499" y="146361"/>
            <a:ext cx="12261374" cy="1293028"/>
          </a:xfrm>
        </p:spPr>
        <p:txBody>
          <a:bodyPr>
            <a:normAutofit/>
          </a:bodyPr>
          <a:lstStyle/>
          <a:p>
            <a:r>
              <a:rPr lang="es-ES" sz="6000" b="1" dirty="0">
                <a:solidFill>
                  <a:schemeClr val="tx2"/>
                </a:solidFill>
                <a:latin typeface="Arial"/>
                <a:cs typeface="Arial"/>
              </a:rPr>
              <a:t>Ejemplo </a:t>
            </a:r>
            <a:r>
              <a:rPr lang="es-ES" sz="6000" b="1" err="1">
                <a:solidFill>
                  <a:schemeClr val="tx2"/>
                </a:solidFill>
                <a:latin typeface="Arial"/>
                <a:cs typeface="Arial"/>
              </a:rPr>
              <a:t>zero</a:t>
            </a:r>
            <a:r>
              <a:rPr lang="es-ES" sz="6000" b="1" dirty="0">
                <a:solidFill>
                  <a:schemeClr val="tx2"/>
                </a:solidFill>
                <a:latin typeface="Arial"/>
                <a:cs typeface="Arial"/>
              </a:rPr>
              <a:t> </a:t>
            </a:r>
            <a:r>
              <a:rPr lang="es-ES" sz="6000" b="1" err="1">
                <a:solidFill>
                  <a:schemeClr val="tx2"/>
                </a:solidFill>
                <a:latin typeface="Arial"/>
                <a:cs typeface="Arial"/>
              </a:rPr>
              <a:t>coupon</a:t>
            </a:r>
            <a:r>
              <a:rPr lang="es-ES" sz="6000" b="1" dirty="0">
                <a:solidFill>
                  <a:schemeClr val="tx2"/>
                </a:solidFill>
                <a:latin typeface="Arial"/>
                <a:cs typeface="Arial"/>
              </a:rPr>
              <a:t> bond</a:t>
            </a:r>
          </a:p>
        </p:txBody>
      </p:sp>
      <p:sp>
        <p:nvSpPr>
          <p:cNvPr id="3" name="Marcador de contenido 2">
            <a:extLst>
              <a:ext uri="{FF2B5EF4-FFF2-40B4-BE49-F238E27FC236}">
                <a16:creationId xmlns:a16="http://schemas.microsoft.com/office/drawing/2014/main" id="{F6117E49-B465-66D6-119F-A6465CBE040F}"/>
              </a:ext>
            </a:extLst>
          </p:cNvPr>
          <p:cNvSpPr>
            <a:spLocks noGrp="1"/>
          </p:cNvSpPr>
          <p:nvPr>
            <p:ph idx="1"/>
          </p:nvPr>
        </p:nvSpPr>
        <p:spPr>
          <a:xfrm>
            <a:off x="1020128" y="2592620"/>
            <a:ext cx="4742425" cy="2556991"/>
          </a:xfrm>
        </p:spPr>
        <p:txBody>
          <a:bodyPr vert="horz" lIns="91440" tIns="45720" rIns="91440" bIns="45720" rtlCol="0" anchor="t">
            <a:normAutofit/>
          </a:bodyPr>
          <a:lstStyle/>
          <a:p>
            <a:pPr marL="0" indent="0">
              <a:buNone/>
            </a:pPr>
            <a:r>
              <a:rPr lang="es-ES" dirty="0">
                <a:solidFill>
                  <a:schemeClr val="tx2"/>
                </a:solidFill>
                <a:latin typeface="Arial"/>
                <a:cs typeface="Arial"/>
              </a:rPr>
              <a:t>Es un tipo de contrato financiero de deuda en el que no se pagan intereses periódicos por el bono. En lugar de eso, el bono se vende a un precio significativamente mayor a su valor nominal.</a:t>
            </a:r>
            <a:endParaRPr lang="es-ES"/>
          </a:p>
        </p:txBody>
      </p:sp>
      <p:pic>
        <p:nvPicPr>
          <p:cNvPr id="4" name="Imagen 3" descr="Texto&#10;&#10;Descripción generada automáticamente">
            <a:extLst>
              <a:ext uri="{FF2B5EF4-FFF2-40B4-BE49-F238E27FC236}">
                <a16:creationId xmlns:a16="http://schemas.microsoft.com/office/drawing/2014/main" id="{45D49C50-291C-AF3C-0C31-607792BF0F1A}"/>
              </a:ext>
            </a:extLst>
          </p:cNvPr>
          <p:cNvPicPr>
            <a:picLocks noChangeAspect="1"/>
          </p:cNvPicPr>
          <p:nvPr/>
        </p:nvPicPr>
        <p:blipFill>
          <a:blip r:embed="rId2"/>
          <a:stretch>
            <a:fillRect/>
          </a:stretch>
        </p:blipFill>
        <p:spPr>
          <a:xfrm>
            <a:off x="6091310" y="1650242"/>
            <a:ext cx="5326322" cy="4967785"/>
          </a:xfrm>
          <a:prstGeom prst="rect">
            <a:avLst/>
          </a:prstGeom>
        </p:spPr>
      </p:pic>
    </p:spTree>
    <p:extLst>
      <p:ext uri="{BB962C8B-B14F-4D97-AF65-F5344CB8AC3E}">
        <p14:creationId xmlns:p14="http://schemas.microsoft.com/office/powerpoint/2010/main" val="398912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B94457-F69E-E84E-8F65-0E124023AAFB}"/>
              </a:ext>
            </a:extLst>
          </p:cNvPr>
          <p:cNvSpPr>
            <a:spLocks noGrp="1"/>
          </p:cNvSpPr>
          <p:nvPr>
            <p:ph type="title"/>
          </p:nvPr>
        </p:nvSpPr>
        <p:spPr>
          <a:xfrm>
            <a:off x="1246496" y="93358"/>
            <a:ext cx="9986749" cy="1270282"/>
          </a:xfrm>
        </p:spPr>
        <p:txBody>
          <a:bodyPr>
            <a:noAutofit/>
          </a:bodyPr>
          <a:lstStyle/>
          <a:p>
            <a:r>
              <a:rPr lang="es-ES" sz="6000" b="1" dirty="0">
                <a:solidFill>
                  <a:schemeClr val="tx2"/>
                </a:solidFill>
                <a:latin typeface="Arial"/>
                <a:cs typeface="Arial"/>
              </a:rPr>
              <a:t>Ejemplo modificado</a:t>
            </a:r>
          </a:p>
        </p:txBody>
      </p:sp>
      <p:pic>
        <p:nvPicPr>
          <p:cNvPr id="5" name="Imagen 4" descr="Texto&#10;&#10;Descripción generada automáticamente">
            <a:extLst>
              <a:ext uri="{FF2B5EF4-FFF2-40B4-BE49-F238E27FC236}">
                <a16:creationId xmlns:a16="http://schemas.microsoft.com/office/drawing/2014/main" id="{E4077920-B1F6-C2AA-89C7-4DD0644D93D4}"/>
              </a:ext>
            </a:extLst>
          </p:cNvPr>
          <p:cNvPicPr>
            <a:picLocks noChangeAspect="1"/>
          </p:cNvPicPr>
          <p:nvPr/>
        </p:nvPicPr>
        <p:blipFill>
          <a:blip r:embed="rId2"/>
          <a:stretch>
            <a:fillRect/>
          </a:stretch>
        </p:blipFill>
        <p:spPr>
          <a:xfrm>
            <a:off x="6405918" y="1469977"/>
            <a:ext cx="5238197" cy="4763068"/>
          </a:xfrm>
          <a:prstGeom prst="rect">
            <a:avLst/>
          </a:prstGeom>
        </p:spPr>
      </p:pic>
      <p:pic>
        <p:nvPicPr>
          <p:cNvPr id="8" name="Imagen 7" descr="Texto&#10;&#10;Descripción generada automáticamente">
            <a:extLst>
              <a:ext uri="{FF2B5EF4-FFF2-40B4-BE49-F238E27FC236}">
                <a16:creationId xmlns:a16="http://schemas.microsoft.com/office/drawing/2014/main" id="{40408618-9F23-8803-ABCA-C5478E8FBDF5}"/>
              </a:ext>
            </a:extLst>
          </p:cNvPr>
          <p:cNvPicPr>
            <a:picLocks noChangeAspect="1"/>
          </p:cNvPicPr>
          <p:nvPr/>
        </p:nvPicPr>
        <p:blipFill>
          <a:blip r:embed="rId3"/>
          <a:stretch>
            <a:fillRect/>
          </a:stretch>
        </p:blipFill>
        <p:spPr>
          <a:xfrm>
            <a:off x="534747" y="1337480"/>
            <a:ext cx="5231221" cy="5297605"/>
          </a:xfrm>
          <a:prstGeom prst="rect">
            <a:avLst/>
          </a:prstGeom>
        </p:spPr>
      </p:pic>
    </p:spTree>
    <p:extLst>
      <p:ext uri="{BB962C8B-B14F-4D97-AF65-F5344CB8AC3E}">
        <p14:creationId xmlns:p14="http://schemas.microsoft.com/office/powerpoint/2010/main" val="1061147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E0705A-FCCA-FD83-2020-1935B0985A6A}"/>
              </a:ext>
            </a:extLst>
          </p:cNvPr>
          <p:cNvSpPr>
            <a:spLocks noGrp="1"/>
          </p:cNvSpPr>
          <p:nvPr>
            <p:ph type="title"/>
          </p:nvPr>
        </p:nvSpPr>
        <p:spPr>
          <a:xfrm>
            <a:off x="529990" y="2373"/>
            <a:ext cx="10919344" cy="1133805"/>
          </a:xfrm>
        </p:spPr>
        <p:txBody>
          <a:bodyPr>
            <a:noAutofit/>
          </a:bodyPr>
          <a:lstStyle/>
          <a:p>
            <a:r>
              <a:rPr lang="es-ES" sz="6000" b="1" dirty="0">
                <a:solidFill>
                  <a:schemeClr val="tx2"/>
                </a:solidFill>
                <a:latin typeface="Arial"/>
                <a:cs typeface="Arial"/>
              </a:rPr>
              <a:t>Simulación del ejemplo</a:t>
            </a:r>
          </a:p>
        </p:txBody>
      </p:sp>
      <p:pic>
        <p:nvPicPr>
          <p:cNvPr id="3" name="Imagen 2" descr="Interfaz de usuario gráfica, Aplicación, Teams&#10;&#10;Descripción generada automáticamente">
            <a:extLst>
              <a:ext uri="{FF2B5EF4-FFF2-40B4-BE49-F238E27FC236}">
                <a16:creationId xmlns:a16="http://schemas.microsoft.com/office/drawing/2014/main" id="{245DDB9E-AC09-CA60-AABF-7F533E7B4BC8}"/>
              </a:ext>
            </a:extLst>
          </p:cNvPr>
          <p:cNvPicPr>
            <a:picLocks noChangeAspect="1"/>
          </p:cNvPicPr>
          <p:nvPr/>
        </p:nvPicPr>
        <p:blipFill>
          <a:blip r:embed="rId2"/>
          <a:stretch>
            <a:fillRect/>
          </a:stretch>
        </p:blipFill>
        <p:spPr>
          <a:xfrm>
            <a:off x="2751" y="1283458"/>
            <a:ext cx="4549441" cy="4376383"/>
          </a:xfrm>
          <a:prstGeom prst="rect">
            <a:avLst/>
          </a:prstGeom>
        </p:spPr>
      </p:pic>
      <p:pic>
        <p:nvPicPr>
          <p:cNvPr id="5" name="Imagen 4" descr="Interfaz de usuario gráfica, Aplicación&#10;&#10;Descripción generada automáticamente">
            <a:extLst>
              <a:ext uri="{FF2B5EF4-FFF2-40B4-BE49-F238E27FC236}">
                <a16:creationId xmlns:a16="http://schemas.microsoft.com/office/drawing/2014/main" id="{984C474A-E1FC-B9E5-D6AE-84A31C7F74F3}"/>
              </a:ext>
            </a:extLst>
          </p:cNvPr>
          <p:cNvPicPr>
            <a:picLocks noChangeAspect="1"/>
          </p:cNvPicPr>
          <p:nvPr/>
        </p:nvPicPr>
        <p:blipFill>
          <a:blip r:embed="rId3"/>
          <a:stretch>
            <a:fillRect/>
          </a:stretch>
        </p:blipFill>
        <p:spPr>
          <a:xfrm>
            <a:off x="4554940" y="884260"/>
            <a:ext cx="3800413" cy="4376381"/>
          </a:xfrm>
          <a:prstGeom prst="rect">
            <a:avLst/>
          </a:prstGeom>
        </p:spPr>
      </p:pic>
      <p:pic>
        <p:nvPicPr>
          <p:cNvPr id="6" name="Imagen 5" descr="Interfaz de usuario gráfica, Texto, Aplicación&#10;&#10;Descripción generada automáticamente">
            <a:extLst>
              <a:ext uri="{FF2B5EF4-FFF2-40B4-BE49-F238E27FC236}">
                <a16:creationId xmlns:a16="http://schemas.microsoft.com/office/drawing/2014/main" id="{622F53C1-647E-AEED-81FD-15E1BFA2B018}"/>
              </a:ext>
            </a:extLst>
          </p:cNvPr>
          <p:cNvPicPr>
            <a:picLocks noChangeAspect="1"/>
          </p:cNvPicPr>
          <p:nvPr/>
        </p:nvPicPr>
        <p:blipFill>
          <a:blip r:embed="rId4"/>
          <a:stretch>
            <a:fillRect/>
          </a:stretch>
        </p:blipFill>
        <p:spPr>
          <a:xfrm>
            <a:off x="8066394" y="3952162"/>
            <a:ext cx="4110251" cy="2938818"/>
          </a:xfrm>
          <a:prstGeom prst="rect">
            <a:avLst/>
          </a:prstGeom>
        </p:spPr>
      </p:pic>
    </p:spTree>
    <p:extLst>
      <p:ext uri="{BB962C8B-B14F-4D97-AF65-F5344CB8AC3E}">
        <p14:creationId xmlns:p14="http://schemas.microsoft.com/office/powerpoint/2010/main" val="321142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CFA6E0-9E6C-071E-6860-B89619BD5C28}"/>
              </a:ext>
            </a:extLst>
          </p:cNvPr>
          <p:cNvSpPr>
            <a:spLocks noGrp="1"/>
          </p:cNvSpPr>
          <p:nvPr>
            <p:ph type="title"/>
          </p:nvPr>
        </p:nvSpPr>
        <p:spPr>
          <a:xfrm>
            <a:off x="746079" y="343566"/>
            <a:ext cx="10782867" cy="1020073"/>
          </a:xfrm>
        </p:spPr>
        <p:txBody>
          <a:bodyPr>
            <a:normAutofit/>
          </a:bodyPr>
          <a:lstStyle/>
          <a:p>
            <a:r>
              <a:rPr lang="es-ES" sz="6000" b="1" dirty="0">
                <a:solidFill>
                  <a:schemeClr val="tx2"/>
                </a:solidFill>
                <a:latin typeface="Arial"/>
                <a:cs typeface="Arial"/>
              </a:rPr>
              <a:t>SIMULACIÓN DEL EJEMPLO</a:t>
            </a:r>
            <a:endParaRPr lang="es-ES" sz="6000" dirty="0">
              <a:solidFill>
                <a:schemeClr val="tx2"/>
              </a:solidFill>
              <a:latin typeface="Arial"/>
              <a:cs typeface="Arial"/>
            </a:endParaRPr>
          </a:p>
          <a:p>
            <a:endParaRPr lang="es-ES" dirty="0"/>
          </a:p>
        </p:txBody>
      </p:sp>
      <p:pic>
        <p:nvPicPr>
          <p:cNvPr id="3" name="Imagen 2" descr="Interfaz de usuario gráfica, Aplicación&#10;&#10;Descripción generada automáticamente">
            <a:extLst>
              <a:ext uri="{FF2B5EF4-FFF2-40B4-BE49-F238E27FC236}">
                <a16:creationId xmlns:a16="http://schemas.microsoft.com/office/drawing/2014/main" id="{71F0668B-68DB-98FB-7DB4-3ED791921D1C}"/>
              </a:ext>
            </a:extLst>
          </p:cNvPr>
          <p:cNvPicPr>
            <a:picLocks noChangeAspect="1"/>
          </p:cNvPicPr>
          <p:nvPr/>
        </p:nvPicPr>
        <p:blipFill>
          <a:blip r:embed="rId2"/>
          <a:stretch>
            <a:fillRect/>
          </a:stretch>
        </p:blipFill>
        <p:spPr>
          <a:xfrm>
            <a:off x="0" y="852986"/>
            <a:ext cx="4776049" cy="2829638"/>
          </a:xfrm>
          <a:prstGeom prst="rect">
            <a:avLst/>
          </a:prstGeom>
        </p:spPr>
      </p:pic>
      <p:pic>
        <p:nvPicPr>
          <p:cNvPr id="4" name="Imagen 3" descr="Interfaz de usuario gráfica, Texto, Aplicación&#10;&#10;Descripción generada automáticamente">
            <a:extLst>
              <a:ext uri="{FF2B5EF4-FFF2-40B4-BE49-F238E27FC236}">
                <a16:creationId xmlns:a16="http://schemas.microsoft.com/office/drawing/2014/main" id="{38F913F2-ED5F-AFF6-43FC-F1339B50A472}"/>
              </a:ext>
            </a:extLst>
          </p:cNvPr>
          <p:cNvPicPr>
            <a:picLocks noChangeAspect="1"/>
          </p:cNvPicPr>
          <p:nvPr/>
        </p:nvPicPr>
        <p:blipFill>
          <a:blip r:embed="rId3"/>
          <a:stretch>
            <a:fillRect/>
          </a:stretch>
        </p:blipFill>
        <p:spPr>
          <a:xfrm>
            <a:off x="-2843" y="3761664"/>
            <a:ext cx="4778426" cy="3091218"/>
          </a:xfrm>
          <a:prstGeom prst="rect">
            <a:avLst/>
          </a:prstGeom>
        </p:spPr>
      </p:pic>
      <p:pic>
        <p:nvPicPr>
          <p:cNvPr id="5" name="Imagen 4" descr="Interfaz de usuario gráfica, Texto, Aplicación&#10;&#10;Descripción generada automáticamente">
            <a:extLst>
              <a:ext uri="{FF2B5EF4-FFF2-40B4-BE49-F238E27FC236}">
                <a16:creationId xmlns:a16="http://schemas.microsoft.com/office/drawing/2014/main" id="{249F26C1-E539-2417-3466-295956FBE408}"/>
              </a:ext>
            </a:extLst>
          </p:cNvPr>
          <p:cNvPicPr>
            <a:picLocks noChangeAspect="1"/>
          </p:cNvPicPr>
          <p:nvPr/>
        </p:nvPicPr>
        <p:blipFill>
          <a:blip r:embed="rId4"/>
          <a:stretch>
            <a:fillRect/>
          </a:stretch>
        </p:blipFill>
        <p:spPr>
          <a:xfrm>
            <a:off x="5103693" y="858671"/>
            <a:ext cx="3400299" cy="3500651"/>
          </a:xfrm>
          <a:prstGeom prst="rect">
            <a:avLst/>
          </a:prstGeom>
        </p:spPr>
      </p:pic>
      <p:pic>
        <p:nvPicPr>
          <p:cNvPr id="6" name="Imagen 5" descr="Interfaz de usuario gráfica, Texto, Aplicación&#10;&#10;Descripción generada automáticamente">
            <a:extLst>
              <a:ext uri="{FF2B5EF4-FFF2-40B4-BE49-F238E27FC236}">
                <a16:creationId xmlns:a16="http://schemas.microsoft.com/office/drawing/2014/main" id="{451D9685-CA09-BDF9-CC98-0180F8AA6345}"/>
              </a:ext>
            </a:extLst>
          </p:cNvPr>
          <p:cNvPicPr>
            <a:picLocks noChangeAspect="1"/>
          </p:cNvPicPr>
          <p:nvPr/>
        </p:nvPicPr>
        <p:blipFill>
          <a:blip r:embed="rId5"/>
          <a:stretch>
            <a:fillRect/>
          </a:stretch>
        </p:blipFill>
        <p:spPr>
          <a:xfrm>
            <a:off x="8501418" y="2982603"/>
            <a:ext cx="3689828" cy="3875965"/>
          </a:xfrm>
          <a:prstGeom prst="rect">
            <a:avLst/>
          </a:prstGeom>
        </p:spPr>
      </p:pic>
    </p:spTree>
    <p:extLst>
      <p:ext uri="{BB962C8B-B14F-4D97-AF65-F5344CB8AC3E}">
        <p14:creationId xmlns:p14="http://schemas.microsoft.com/office/powerpoint/2010/main" val="954828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81DB8-E58B-5031-EA92-F752272682E3}"/>
              </a:ext>
            </a:extLst>
          </p:cNvPr>
          <p:cNvSpPr>
            <a:spLocks noGrp="1"/>
          </p:cNvSpPr>
          <p:nvPr>
            <p:ph type="title"/>
          </p:nvPr>
        </p:nvSpPr>
        <p:spPr>
          <a:xfrm>
            <a:off x="1189630" y="81985"/>
            <a:ext cx="10134599" cy="1293028"/>
          </a:xfrm>
        </p:spPr>
        <p:txBody>
          <a:bodyPr>
            <a:noAutofit/>
          </a:bodyPr>
          <a:lstStyle/>
          <a:p>
            <a:r>
              <a:rPr lang="es-ES" sz="6000" b="1" dirty="0">
                <a:solidFill>
                  <a:schemeClr val="tx2"/>
                </a:solidFill>
                <a:latin typeface="Arial"/>
                <a:cs typeface="Arial"/>
              </a:rPr>
              <a:t>Estados del contrato</a:t>
            </a:r>
          </a:p>
        </p:txBody>
      </p:sp>
      <p:pic>
        <p:nvPicPr>
          <p:cNvPr id="3" name="Imagen 2" descr="Escala de tiempo&#10;&#10;Descripción generada automáticamente">
            <a:extLst>
              <a:ext uri="{FF2B5EF4-FFF2-40B4-BE49-F238E27FC236}">
                <a16:creationId xmlns:a16="http://schemas.microsoft.com/office/drawing/2014/main" id="{1BBC2F44-DC3D-3BC3-0D61-234BD90F4ECF}"/>
              </a:ext>
            </a:extLst>
          </p:cNvPr>
          <p:cNvPicPr>
            <a:picLocks noChangeAspect="1"/>
          </p:cNvPicPr>
          <p:nvPr/>
        </p:nvPicPr>
        <p:blipFill>
          <a:blip r:embed="rId2"/>
          <a:stretch>
            <a:fillRect/>
          </a:stretch>
        </p:blipFill>
        <p:spPr>
          <a:xfrm>
            <a:off x="744301" y="1240809"/>
            <a:ext cx="4937219" cy="5536441"/>
          </a:xfrm>
          <a:prstGeom prst="rect">
            <a:avLst/>
          </a:prstGeom>
        </p:spPr>
      </p:pic>
      <p:pic>
        <p:nvPicPr>
          <p:cNvPr id="4" name="Imagen 3" descr="Escala de tiempo&#10;&#10;Descripción generada automáticamente">
            <a:extLst>
              <a:ext uri="{FF2B5EF4-FFF2-40B4-BE49-F238E27FC236}">
                <a16:creationId xmlns:a16="http://schemas.microsoft.com/office/drawing/2014/main" id="{0B6F361E-F95F-EC8F-4113-418481B3D008}"/>
              </a:ext>
            </a:extLst>
          </p:cNvPr>
          <p:cNvPicPr>
            <a:picLocks noChangeAspect="1"/>
          </p:cNvPicPr>
          <p:nvPr/>
        </p:nvPicPr>
        <p:blipFill>
          <a:blip r:embed="rId3"/>
          <a:stretch>
            <a:fillRect/>
          </a:stretch>
        </p:blipFill>
        <p:spPr>
          <a:xfrm>
            <a:off x="7257359" y="1141293"/>
            <a:ext cx="4427236" cy="5638799"/>
          </a:xfrm>
          <a:prstGeom prst="rect">
            <a:avLst/>
          </a:prstGeom>
        </p:spPr>
      </p:pic>
    </p:spTree>
    <p:extLst>
      <p:ext uri="{BB962C8B-B14F-4D97-AF65-F5344CB8AC3E}">
        <p14:creationId xmlns:p14="http://schemas.microsoft.com/office/powerpoint/2010/main" val="4110449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E79651-7CAC-07E6-675E-228B12C1F4EC}"/>
              </a:ext>
            </a:extLst>
          </p:cNvPr>
          <p:cNvSpPr>
            <a:spLocks noGrp="1"/>
          </p:cNvSpPr>
          <p:nvPr>
            <p:ph type="title"/>
          </p:nvPr>
        </p:nvSpPr>
        <p:spPr>
          <a:xfrm>
            <a:off x="5784379" y="207089"/>
            <a:ext cx="6813641" cy="1293028"/>
          </a:xfrm>
        </p:spPr>
        <p:txBody>
          <a:bodyPr>
            <a:noAutofit/>
          </a:bodyPr>
          <a:lstStyle/>
          <a:p>
            <a:pPr algn="ctr"/>
            <a:r>
              <a:rPr lang="es-ES" sz="6000" b="1" dirty="0">
                <a:solidFill>
                  <a:schemeClr val="tx2"/>
                </a:solidFill>
                <a:latin typeface="Arial"/>
                <a:cs typeface="Arial"/>
              </a:rPr>
              <a:t>depósito con garantía</a:t>
            </a:r>
            <a:endParaRPr lang="es-ES">
              <a:solidFill>
                <a:schemeClr val="tx2"/>
              </a:solidFill>
            </a:endParaRPr>
          </a:p>
        </p:txBody>
      </p:sp>
      <p:pic>
        <p:nvPicPr>
          <p:cNvPr id="4" name="Imagen 3" descr="Texto&#10;&#10;Descripción generada automáticamente">
            <a:extLst>
              <a:ext uri="{FF2B5EF4-FFF2-40B4-BE49-F238E27FC236}">
                <a16:creationId xmlns:a16="http://schemas.microsoft.com/office/drawing/2014/main" id="{02EE7BF8-1ACE-7A2B-6937-86285AE30D74}"/>
              </a:ext>
            </a:extLst>
          </p:cNvPr>
          <p:cNvPicPr>
            <a:picLocks noChangeAspect="1"/>
          </p:cNvPicPr>
          <p:nvPr/>
        </p:nvPicPr>
        <p:blipFill>
          <a:blip r:embed="rId2"/>
          <a:stretch>
            <a:fillRect/>
          </a:stretch>
        </p:blipFill>
        <p:spPr>
          <a:xfrm>
            <a:off x="0" y="-44643"/>
            <a:ext cx="5618329" cy="3802613"/>
          </a:xfrm>
          <a:prstGeom prst="rect">
            <a:avLst/>
          </a:prstGeom>
        </p:spPr>
      </p:pic>
      <p:pic>
        <p:nvPicPr>
          <p:cNvPr id="5" name="Imagen 4" descr="Texto&#10;&#10;Descripción generada automáticamente">
            <a:extLst>
              <a:ext uri="{FF2B5EF4-FFF2-40B4-BE49-F238E27FC236}">
                <a16:creationId xmlns:a16="http://schemas.microsoft.com/office/drawing/2014/main" id="{2F1ECBF2-8128-141D-E4DA-07DD9EF1F030}"/>
              </a:ext>
            </a:extLst>
          </p:cNvPr>
          <p:cNvPicPr>
            <a:picLocks noChangeAspect="1"/>
          </p:cNvPicPr>
          <p:nvPr/>
        </p:nvPicPr>
        <p:blipFill>
          <a:blip r:embed="rId3"/>
          <a:stretch>
            <a:fillRect/>
          </a:stretch>
        </p:blipFill>
        <p:spPr>
          <a:xfrm>
            <a:off x="4126220" y="2898442"/>
            <a:ext cx="3615425" cy="3955577"/>
          </a:xfrm>
          <a:prstGeom prst="rect">
            <a:avLst/>
          </a:prstGeom>
        </p:spPr>
      </p:pic>
      <p:pic>
        <p:nvPicPr>
          <p:cNvPr id="6" name="Imagen 5" descr="Texto, Escala de tiempo&#10;&#10;Descripción generada automáticamente">
            <a:extLst>
              <a:ext uri="{FF2B5EF4-FFF2-40B4-BE49-F238E27FC236}">
                <a16:creationId xmlns:a16="http://schemas.microsoft.com/office/drawing/2014/main" id="{BB0E08AB-D574-0278-CE52-FADC2A4EF940}"/>
              </a:ext>
            </a:extLst>
          </p:cNvPr>
          <p:cNvPicPr>
            <a:picLocks noChangeAspect="1"/>
          </p:cNvPicPr>
          <p:nvPr/>
        </p:nvPicPr>
        <p:blipFill>
          <a:blip r:embed="rId4"/>
          <a:stretch>
            <a:fillRect/>
          </a:stretch>
        </p:blipFill>
        <p:spPr>
          <a:xfrm>
            <a:off x="7742205" y="1863489"/>
            <a:ext cx="4447004" cy="4990531"/>
          </a:xfrm>
          <a:prstGeom prst="rect">
            <a:avLst/>
          </a:prstGeom>
        </p:spPr>
      </p:pic>
    </p:spTree>
    <p:extLst>
      <p:ext uri="{BB962C8B-B14F-4D97-AF65-F5344CB8AC3E}">
        <p14:creationId xmlns:p14="http://schemas.microsoft.com/office/powerpoint/2010/main" val="379896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C72F51-6EA2-64F0-9189-C5E88670DD4C}"/>
              </a:ext>
            </a:extLst>
          </p:cNvPr>
          <p:cNvSpPr>
            <a:spLocks noGrp="1"/>
          </p:cNvSpPr>
          <p:nvPr>
            <p:ph type="ctrTitle"/>
          </p:nvPr>
        </p:nvSpPr>
        <p:spPr>
          <a:xfrm>
            <a:off x="916675" y="-4924"/>
            <a:ext cx="10574739" cy="1210947"/>
          </a:xfrm>
        </p:spPr>
        <p:txBody>
          <a:bodyPr/>
          <a:lstStyle/>
          <a:p>
            <a:r>
              <a:rPr lang="es-ES" b="1" dirty="0">
                <a:solidFill>
                  <a:schemeClr val="tx2"/>
                </a:solidFill>
                <a:latin typeface="Arial"/>
                <a:cs typeface="Arial"/>
              </a:rPr>
              <a:t>Deposito con garantía</a:t>
            </a:r>
          </a:p>
        </p:txBody>
      </p:sp>
      <p:pic>
        <p:nvPicPr>
          <p:cNvPr id="4" name="Imagen 3" descr="Interfaz de usuario gráfica, Aplicación&#10;&#10;Descripción generada automáticamente">
            <a:extLst>
              <a:ext uri="{FF2B5EF4-FFF2-40B4-BE49-F238E27FC236}">
                <a16:creationId xmlns:a16="http://schemas.microsoft.com/office/drawing/2014/main" id="{771C311B-7751-65B3-A9AA-005A1E9EB013}"/>
              </a:ext>
            </a:extLst>
          </p:cNvPr>
          <p:cNvPicPr>
            <a:picLocks noChangeAspect="1"/>
          </p:cNvPicPr>
          <p:nvPr/>
        </p:nvPicPr>
        <p:blipFill>
          <a:blip r:embed="rId2"/>
          <a:stretch>
            <a:fillRect/>
          </a:stretch>
        </p:blipFill>
        <p:spPr>
          <a:xfrm>
            <a:off x="-202" y="1772503"/>
            <a:ext cx="4049240" cy="4546979"/>
          </a:xfrm>
          <a:prstGeom prst="rect">
            <a:avLst/>
          </a:prstGeom>
        </p:spPr>
      </p:pic>
      <p:pic>
        <p:nvPicPr>
          <p:cNvPr id="5" name="Imagen 4" descr="Interfaz de usuario gráfica, Texto, Aplicación&#10;&#10;Descripción generada automáticamente">
            <a:extLst>
              <a:ext uri="{FF2B5EF4-FFF2-40B4-BE49-F238E27FC236}">
                <a16:creationId xmlns:a16="http://schemas.microsoft.com/office/drawing/2014/main" id="{40DF5C99-EB51-860D-248D-8A0ACD076D8F}"/>
              </a:ext>
            </a:extLst>
          </p:cNvPr>
          <p:cNvPicPr>
            <a:picLocks noChangeAspect="1"/>
          </p:cNvPicPr>
          <p:nvPr/>
        </p:nvPicPr>
        <p:blipFill>
          <a:blip r:embed="rId3"/>
          <a:stretch>
            <a:fillRect/>
          </a:stretch>
        </p:blipFill>
        <p:spPr>
          <a:xfrm>
            <a:off x="4665828" y="4227963"/>
            <a:ext cx="5870670" cy="2628474"/>
          </a:xfrm>
          <a:prstGeom prst="rect">
            <a:avLst/>
          </a:prstGeom>
        </p:spPr>
      </p:pic>
      <p:pic>
        <p:nvPicPr>
          <p:cNvPr id="6" name="Imagen 5" descr="Interfaz de usuario gráfica, Texto, Aplicación&#10;&#10;Descripción generada automáticamente">
            <a:extLst>
              <a:ext uri="{FF2B5EF4-FFF2-40B4-BE49-F238E27FC236}">
                <a16:creationId xmlns:a16="http://schemas.microsoft.com/office/drawing/2014/main" id="{B7C5B674-C020-EDA6-C1C5-9203D28B449D}"/>
              </a:ext>
            </a:extLst>
          </p:cNvPr>
          <p:cNvPicPr>
            <a:picLocks noChangeAspect="1"/>
          </p:cNvPicPr>
          <p:nvPr/>
        </p:nvPicPr>
        <p:blipFill>
          <a:blip r:embed="rId4"/>
          <a:stretch>
            <a:fillRect/>
          </a:stretch>
        </p:blipFill>
        <p:spPr>
          <a:xfrm>
            <a:off x="5914030" y="1086135"/>
            <a:ext cx="4337395" cy="3500652"/>
          </a:xfrm>
          <a:prstGeom prst="rect">
            <a:avLst/>
          </a:prstGeom>
        </p:spPr>
      </p:pic>
    </p:spTree>
    <p:extLst>
      <p:ext uri="{BB962C8B-B14F-4D97-AF65-F5344CB8AC3E}">
        <p14:creationId xmlns:p14="http://schemas.microsoft.com/office/powerpoint/2010/main" val="1427682852"/>
      </p:ext>
    </p:extLst>
  </p:cSld>
  <p:clrMapOvr>
    <a:masterClrMapping/>
  </p:clrMapOvr>
</p:sld>
</file>

<file path=ppt/theme/theme1.xml><?xml version="1.0" encoding="utf-8"?>
<a:theme xmlns:a="http://schemas.openxmlformats.org/drawingml/2006/main" name="Estela de condensación">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TC104033937[[fn=Vapor Trail]]</Template>
  <TotalTime>0</TotalTime>
  <Words>1</Words>
  <Application>Microsoft Office PowerPoint</Application>
  <PresentationFormat>Panorámica</PresentationFormat>
  <Paragraphs>1</Paragraphs>
  <Slides>16</Slides>
  <Notes>1</Notes>
  <HiddenSlides>0</HiddenSlides>
  <MMClips>0</MMClip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Estela de condensación</vt:lpstr>
      <vt:lpstr>Smart contracts con haskell</vt:lpstr>
      <vt:lpstr>ÍNdice:</vt:lpstr>
      <vt:lpstr>¿Qué es cardano?</vt:lpstr>
      <vt:lpstr>¿Por qué en haskell?</vt:lpstr>
      <vt:lpstr>¿Qué es marlowe?</vt:lpstr>
      <vt:lpstr>Participantes, roles y claves pÚblicas</vt:lpstr>
      <vt:lpstr>Contratos de marlowe</vt:lpstr>
      <vt:lpstr>Tipos de contratos</vt:lpstr>
      <vt:lpstr>Playground</vt:lpstr>
      <vt:lpstr>Ejemplo zero coupon bond</vt:lpstr>
      <vt:lpstr>Ejemplo modificado</vt:lpstr>
      <vt:lpstr>Simulación del ejemplo</vt:lpstr>
      <vt:lpstr>SIMULACIÓN DEL EJEMPLO </vt:lpstr>
      <vt:lpstr>Estados del contrato</vt:lpstr>
      <vt:lpstr>depósito con garantía</vt:lpstr>
      <vt:lpstr>Deposito con garantía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
  <cp:revision>779</cp:revision>
  <dcterms:created xsi:type="dcterms:W3CDTF">2023-12-18T17:19:16Z</dcterms:created>
  <dcterms:modified xsi:type="dcterms:W3CDTF">2023-12-19T14:09:53Z</dcterms:modified>
</cp:coreProperties>
</file>